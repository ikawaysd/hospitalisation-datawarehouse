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8" r:id="rId3"/>
    <p:sldId id="259" r:id="rId4"/>
    <p:sldId id="260" r:id="rId5"/>
    <p:sldId id="261" r:id="rId6"/>
    <p:sldId id="262" r:id="rId7"/>
    <p:sldId id="264" r:id="rId8"/>
    <p:sldId id="265" r:id="rId9"/>
    <p:sldId id="270" r:id="rId10"/>
    <p:sldId id="271" r:id="rId11"/>
    <p:sldId id="274" r:id="rId12"/>
    <p:sldId id="275" r:id="rId13"/>
    <p:sldId id="277" r:id="rId14"/>
    <p:sldId id="278" r:id="rId15"/>
    <p:sldId id="279" r:id="rId16"/>
    <p:sldId id="280" r:id="rId17"/>
    <p:sldId id="281" r:id="rId18"/>
    <p:sldId id="282" r:id="rId19"/>
    <p:sldId id="28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1540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2DAEB-9ACD-82C8-F8E0-7B0D71BEE6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EFB9EF-195C-1CE4-745C-4D20EC53E172}"/>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417FC56F-622C-5413-664D-E6EF8BE457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02BCE5-8B4F-8CAB-9FBB-9025F425855C}"/>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837932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692640" y="-1097280"/>
            <a:ext cx="4114800" cy="4114800"/>
          </a:xfrm>
          <a:prstGeom prst="ellipse">
            <a:avLst/>
          </a:prstGeom>
          <a:solidFill>
            <a:srgbClr val="185FA5">
              <a:alpha val="7000"/>
            </a:srgbClr>
          </a:solidFill>
          <a:ln/>
        </p:spPr>
        <p:txBody>
          <a:bodyPr/>
          <a:lstStyle/>
          <a:p>
            <a:endParaRPr lang="fr-FR"/>
          </a:p>
        </p:txBody>
      </p:sp>
      <p:sp>
        <p:nvSpPr>
          <p:cNvPr id="3" name="Shape 1"/>
          <p:cNvSpPr/>
          <p:nvPr/>
        </p:nvSpPr>
        <p:spPr>
          <a:xfrm>
            <a:off x="10789920" y="4754880"/>
            <a:ext cx="2743200" cy="2743200"/>
          </a:xfrm>
          <a:prstGeom prst="ellipse">
            <a:avLst/>
          </a:prstGeom>
          <a:solidFill>
            <a:srgbClr val="185FA5">
              <a:alpha val="10000"/>
            </a:srgbClr>
          </a:solidFill>
          <a:ln/>
        </p:spPr>
        <p:txBody>
          <a:bodyPr/>
          <a:lstStyle/>
          <a:p>
            <a:endParaRPr lang="fr-FR"/>
          </a:p>
        </p:txBody>
      </p:sp>
      <p:sp>
        <p:nvSpPr>
          <p:cNvPr id="4" name="Shape 2"/>
          <p:cNvSpPr/>
          <p:nvPr/>
        </p:nvSpPr>
        <p:spPr>
          <a:xfrm>
            <a:off x="-1371600" y="5029200"/>
            <a:ext cx="2926080" cy="2926080"/>
          </a:xfrm>
          <a:prstGeom prst="ellipse">
            <a:avLst/>
          </a:prstGeom>
          <a:solidFill>
            <a:srgbClr val="0F6E56">
              <a:alpha val="8000"/>
            </a:srgbClr>
          </a:solidFill>
          <a:ln/>
        </p:spPr>
        <p:txBody>
          <a:bodyPr/>
          <a:lstStyle/>
          <a:p>
            <a:endParaRPr lang="fr-FR"/>
          </a:p>
        </p:txBody>
      </p:sp>
      <p:pic>
        <p:nvPicPr>
          <p:cNvPr id="5" name="Image 0" descr="/home/claude/pptxwork/logo_ismagi.png"/>
          <p:cNvPicPr>
            <a:picLocks noChangeAspect="1"/>
          </p:cNvPicPr>
          <p:nvPr/>
        </p:nvPicPr>
        <p:blipFill>
          <a:blip r:embed="rId3"/>
          <a:stretch>
            <a:fillRect/>
          </a:stretch>
        </p:blipFill>
        <p:spPr>
          <a:xfrm>
            <a:off x="68794" y="0"/>
            <a:ext cx="1895397" cy="1005840"/>
          </a:xfrm>
          <a:prstGeom prst="rect">
            <a:avLst/>
          </a:prstGeom>
        </p:spPr>
      </p:pic>
      <p:pic>
        <p:nvPicPr>
          <p:cNvPr id="6" name="Image 1" descr="/home/claude/pptxwork/logo_chu.png"/>
          <p:cNvPicPr>
            <a:picLocks noChangeAspect="1"/>
          </p:cNvPicPr>
          <p:nvPr/>
        </p:nvPicPr>
        <p:blipFill>
          <a:blip r:embed="rId4"/>
          <a:stretch>
            <a:fillRect/>
          </a:stretch>
        </p:blipFill>
        <p:spPr>
          <a:xfrm>
            <a:off x="10578707" y="0"/>
            <a:ext cx="1529442" cy="914400"/>
          </a:xfrm>
          <a:prstGeom prst="rect">
            <a:avLst/>
          </a:prstGeom>
        </p:spPr>
      </p:pic>
      <p:sp>
        <p:nvSpPr>
          <p:cNvPr id="7" name="Text 3"/>
          <p:cNvSpPr/>
          <p:nvPr/>
        </p:nvSpPr>
        <p:spPr>
          <a:xfrm>
            <a:off x="822960" y="1874520"/>
            <a:ext cx="9144000" cy="365760"/>
          </a:xfrm>
          <a:prstGeom prst="rect">
            <a:avLst/>
          </a:prstGeom>
          <a:noFill/>
          <a:ln/>
        </p:spPr>
        <p:txBody>
          <a:bodyPr wrap="square" rtlCol="0" anchor="ctr"/>
          <a:lstStyle/>
          <a:p>
            <a:pPr marL="0" indent="0">
              <a:buNone/>
            </a:pPr>
            <a:r>
              <a:rPr lang="en-US" sz="1400" b="1" kern="0" spc="200" dirty="0">
                <a:solidFill>
                  <a:srgbClr val="185FA5"/>
                </a:solidFill>
                <a:latin typeface="Calibri" pitchFamily="34" charset="0"/>
                <a:ea typeface="Calibri" pitchFamily="34" charset="-122"/>
                <a:cs typeface="Calibri" pitchFamily="34" charset="-120"/>
              </a:rPr>
              <a:t>DATA WAREHOUSING &amp; BUSINESS INTELLIGENCE</a:t>
            </a:r>
            <a:endParaRPr lang="en-US" sz="1400" dirty="0"/>
          </a:p>
        </p:txBody>
      </p:sp>
      <p:sp>
        <p:nvSpPr>
          <p:cNvPr id="8" name="Text 4"/>
          <p:cNvSpPr/>
          <p:nvPr/>
        </p:nvSpPr>
        <p:spPr>
          <a:xfrm>
            <a:off x="822960" y="2240280"/>
            <a:ext cx="9601200" cy="1737360"/>
          </a:xfrm>
          <a:prstGeom prst="rect">
            <a:avLst/>
          </a:prstGeom>
          <a:noFill/>
          <a:ln/>
        </p:spPr>
        <p:txBody>
          <a:bodyPr wrap="square" rtlCol="0" anchor="ctr"/>
          <a:lstStyle/>
          <a:p>
            <a:pPr marL="0" indent="0">
              <a:lnSpc>
                <a:spcPct val="105000"/>
              </a:lnSpc>
              <a:buNone/>
            </a:pPr>
            <a:r>
              <a:rPr lang="en-US" sz="4200" b="1" dirty="0">
                <a:solidFill>
                  <a:srgbClr val="0E2A45"/>
                </a:solidFill>
                <a:latin typeface="Cambria" pitchFamily="34" charset="0"/>
                <a:ea typeface="Cambria" pitchFamily="34" charset="-122"/>
                <a:cs typeface="Cambria" pitchFamily="34" charset="-120"/>
              </a:rPr>
              <a:t>Plateforme Décisionnelle</a:t>
            </a:r>
            <a:endParaRPr lang="en-US" sz="4200" dirty="0"/>
          </a:p>
          <a:p>
            <a:pPr marL="0" indent="0">
              <a:lnSpc>
                <a:spcPct val="105000"/>
              </a:lnSpc>
              <a:buNone/>
            </a:pPr>
            <a:r>
              <a:rPr lang="en-US" sz="4200" b="1" dirty="0">
                <a:solidFill>
                  <a:srgbClr val="0E2A45"/>
                </a:solidFill>
                <a:latin typeface="Cambria" pitchFamily="34" charset="0"/>
                <a:ea typeface="Cambria" pitchFamily="34" charset="-122"/>
                <a:cs typeface="Cambria" pitchFamily="34" charset="-120"/>
              </a:rPr>
              <a:t>Hospitalisation</a:t>
            </a:r>
            <a:endParaRPr lang="en-US" sz="4200" dirty="0"/>
          </a:p>
        </p:txBody>
      </p:sp>
      <p:sp>
        <p:nvSpPr>
          <p:cNvPr id="11" name="Text 7"/>
          <p:cNvSpPr/>
          <p:nvPr/>
        </p:nvSpPr>
        <p:spPr>
          <a:xfrm>
            <a:off x="822960" y="5989320"/>
            <a:ext cx="9144000" cy="365760"/>
          </a:xfrm>
          <a:prstGeom prst="rect">
            <a:avLst/>
          </a:prstGeom>
          <a:noFill/>
          <a:ln/>
        </p:spPr>
        <p:txBody>
          <a:bodyPr wrap="square" rtlCol="0" anchor="ctr"/>
          <a:lstStyle/>
          <a:p>
            <a:pPr marL="0" indent="0">
              <a:buNone/>
            </a:pPr>
            <a:r>
              <a:rPr lang="en-US" sz="1300" dirty="0">
                <a:solidFill>
                  <a:srgbClr val="5D7A96"/>
                </a:solidFill>
                <a:latin typeface="Calibri" pitchFamily="34" charset="0"/>
                <a:ea typeface="Calibri" pitchFamily="34" charset="-122"/>
                <a:cs typeface="Calibri" pitchFamily="34" charset="-120"/>
              </a:rPr>
              <a:t>SQL Server  •  SSIS  •  SSAS Multidimensional  •  Power BI</a:t>
            </a:r>
            <a:endParaRPr lang="en-US" sz="1300" dirty="0"/>
          </a:p>
        </p:txBody>
      </p:sp>
      <p:sp>
        <p:nvSpPr>
          <p:cNvPr id="12" name="Text 8"/>
          <p:cNvSpPr/>
          <p:nvPr/>
        </p:nvSpPr>
        <p:spPr>
          <a:xfrm>
            <a:off x="822960" y="6355080"/>
            <a:ext cx="9144000" cy="320040"/>
          </a:xfrm>
          <a:prstGeom prst="rect">
            <a:avLst/>
          </a:prstGeom>
          <a:noFill/>
          <a:ln/>
        </p:spPr>
        <p:txBody>
          <a:bodyPr wrap="square" rtlCol="0" anchor="ctr"/>
          <a:lstStyle/>
          <a:p>
            <a:pPr marL="0" indent="0">
              <a:buNone/>
            </a:pPr>
            <a:r>
              <a:rPr lang="en-US" sz="1100" dirty="0">
                <a:solidFill>
                  <a:srgbClr val="8AA0B4"/>
                </a:solidFill>
                <a:latin typeface="Calibri" pitchFamily="34" charset="0"/>
                <a:ea typeface="Calibri" pitchFamily="34" charset="-122"/>
                <a:cs typeface="Calibri" pitchFamily="34" charset="-120"/>
              </a:rPr>
              <a:t>Année universitaire 2025 / 2026</a:t>
            </a:r>
            <a:endParaRPr lang="en-US" sz="1100" dirty="0"/>
          </a:p>
        </p:txBody>
      </p:sp>
      <p:sp>
        <p:nvSpPr>
          <p:cNvPr id="17" name="Text 5">
            <a:extLst>
              <a:ext uri="{FF2B5EF4-FFF2-40B4-BE49-F238E27FC236}">
                <a16:creationId xmlns:a16="http://schemas.microsoft.com/office/drawing/2014/main" id="{935B2C7C-AE56-3C39-09E4-0124DF815102}"/>
              </a:ext>
            </a:extLst>
          </p:cNvPr>
          <p:cNvSpPr/>
          <p:nvPr/>
        </p:nvSpPr>
        <p:spPr>
          <a:xfrm>
            <a:off x="822960" y="4709160"/>
            <a:ext cx="7315200" cy="457200"/>
          </a:xfrm>
          <a:prstGeom prst="rect">
            <a:avLst/>
          </a:prstGeom>
          <a:noFill/>
          <a:ln/>
        </p:spPr>
        <p:txBody>
          <a:bodyPr wrap="square" rtlCol="0" anchor="ctr"/>
          <a:lstStyle/>
          <a:p>
            <a:r>
              <a:rPr lang="fr-MA" sz="1900" dirty="0">
                <a:solidFill>
                  <a:srgbClr val="3D5875"/>
                </a:solidFill>
                <a:latin typeface="Calibri" pitchFamily="34" charset="0"/>
                <a:ea typeface="Calibri" pitchFamily="34" charset="-122"/>
                <a:cs typeface="Calibri" pitchFamily="34" charset="-120"/>
              </a:rPr>
              <a:t>Projet individuel </a:t>
            </a:r>
            <a:r>
              <a:rPr lang="en-US" sz="1900" dirty="0" err="1">
                <a:solidFill>
                  <a:srgbClr val="3D5875"/>
                </a:solidFill>
                <a:latin typeface="Calibri" pitchFamily="34" charset="0"/>
                <a:ea typeface="Calibri" pitchFamily="34" charset="-122"/>
                <a:cs typeface="Calibri" pitchFamily="34" charset="-120"/>
              </a:rPr>
              <a:t>réalisé</a:t>
            </a:r>
            <a:r>
              <a:rPr lang="en-US" sz="1900" dirty="0">
                <a:solidFill>
                  <a:srgbClr val="3D5875"/>
                </a:solidFill>
                <a:latin typeface="Calibri" pitchFamily="34" charset="0"/>
                <a:ea typeface="Calibri" pitchFamily="34" charset="-122"/>
                <a:cs typeface="Calibri" pitchFamily="34" charset="-120"/>
              </a:rPr>
              <a:t> par Nabil Aberaouz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pPr marL="0" indent="0">
              <a:buNone/>
            </a:pPr>
            <a:r>
              <a:rPr lang="en-US" sz="2800" b="1" dirty="0">
                <a:solidFill>
                  <a:srgbClr val="185FA5"/>
                </a:solidFill>
                <a:latin typeface="Cambria" pitchFamily="34" charset="0"/>
                <a:ea typeface="Cambria" pitchFamily="34" charset="-122"/>
                <a:cs typeface="Cambria" pitchFamily="34" charset="-120"/>
              </a:rPr>
              <a:t>Contexte &amp; Problématique</a:t>
            </a:r>
            <a:endParaRPr lang="en-US" sz="2800" dirty="0"/>
          </a:p>
        </p:txBody>
      </p:sp>
      <p:sp>
        <p:nvSpPr>
          <p:cNvPr id="3" name="Shape 1"/>
          <p:cNvSpPr/>
          <p:nvPr/>
        </p:nvSpPr>
        <p:spPr>
          <a:xfrm>
            <a:off x="548640" y="1563106"/>
            <a:ext cx="5303520" cy="4480560"/>
          </a:xfrm>
          <a:prstGeom prst="rect">
            <a:avLst/>
          </a:prstGeom>
          <a:solidFill>
            <a:srgbClr val="F0F4F8"/>
          </a:solidFill>
          <a:ln w="12700">
            <a:solidFill>
              <a:srgbClr val="D9D9D9"/>
            </a:solidFill>
            <a:prstDash val="solid"/>
          </a:ln>
        </p:spPr>
        <p:txBody>
          <a:bodyPr/>
          <a:lstStyle/>
          <a:p>
            <a:endParaRPr lang="fr-FR"/>
          </a:p>
        </p:txBody>
      </p:sp>
      <p:sp>
        <p:nvSpPr>
          <p:cNvPr id="4" name="Text 2"/>
          <p:cNvSpPr/>
          <p:nvPr/>
        </p:nvSpPr>
        <p:spPr>
          <a:xfrm>
            <a:off x="822960" y="1783080"/>
            <a:ext cx="4754880" cy="365760"/>
          </a:xfrm>
          <a:prstGeom prst="rect">
            <a:avLst/>
          </a:prstGeom>
          <a:noFill/>
          <a:ln/>
        </p:spPr>
        <p:txBody>
          <a:bodyPr wrap="square" rtlCol="0" anchor="ctr"/>
          <a:lstStyle/>
          <a:p>
            <a:pPr marL="0" indent="0">
              <a:buNone/>
            </a:pPr>
            <a:r>
              <a:rPr lang="en-US" sz="1600" b="1" dirty="0">
                <a:solidFill>
                  <a:srgbClr val="185FA5"/>
                </a:solidFill>
                <a:latin typeface="Cambria" pitchFamily="34" charset="0"/>
                <a:ea typeface="Cambria" pitchFamily="34" charset="-122"/>
                <a:cs typeface="Cambria" pitchFamily="34" charset="-120"/>
              </a:rPr>
              <a:t>Contexte</a:t>
            </a:r>
            <a:endParaRPr lang="en-US" sz="1600" dirty="0"/>
          </a:p>
        </p:txBody>
      </p:sp>
      <p:sp>
        <p:nvSpPr>
          <p:cNvPr id="5" name="Text 3"/>
          <p:cNvSpPr/>
          <p:nvPr/>
        </p:nvSpPr>
        <p:spPr>
          <a:xfrm>
            <a:off x="822960" y="2240280"/>
            <a:ext cx="4754880" cy="2809240"/>
          </a:xfrm>
          <a:prstGeom prst="rect">
            <a:avLst/>
          </a:prstGeom>
          <a:noFill/>
          <a:ln/>
        </p:spPr>
        <p:txBody>
          <a:bodyPr wrap="square" rtlCol="0" anchor="ctr"/>
          <a:lstStyle/>
          <a:p>
            <a:pPr>
              <a:lnSpc>
                <a:spcPct val="125000"/>
              </a:lnSpc>
            </a:pPr>
            <a:r>
              <a:rPr lang="fr-MA" sz="1250" dirty="0">
                <a:solidFill>
                  <a:srgbClr val="333333"/>
                </a:solidFill>
                <a:latin typeface="Calibri" pitchFamily="34" charset="0"/>
                <a:ea typeface="Calibri" pitchFamily="34" charset="-122"/>
                <a:cs typeface="Calibri" pitchFamily="34" charset="-120"/>
              </a:rPr>
              <a:t>Le CHU Ibn Sina génère quotidiennement un volume important de données liées aux hospitalisations, réparties entre plusieurs centres et services cliniques.</a:t>
            </a:r>
          </a:p>
          <a:p>
            <a:pPr>
              <a:lnSpc>
                <a:spcPct val="125000"/>
              </a:lnSpc>
            </a:pPr>
            <a:endParaRPr lang="en-US" sz="1250" dirty="0"/>
          </a:p>
          <a:p>
            <a:pPr>
              <a:lnSpc>
                <a:spcPct val="125000"/>
              </a:lnSpc>
            </a:pPr>
            <a:r>
              <a:rPr lang="fr-MA" sz="1250" dirty="0">
                <a:solidFill>
                  <a:srgbClr val="333333"/>
                </a:solidFill>
                <a:latin typeface="Calibri" pitchFamily="34" charset="0"/>
                <a:ea typeface="Calibri" pitchFamily="34" charset="-122"/>
                <a:cs typeface="Calibri" pitchFamily="34" charset="-120"/>
              </a:rPr>
              <a:t>Les données sont stockées dans le système d'information hospitalier (HIS), mais elles sont principalement utilisées à des fins opérationnelles et ne permettent pas une analyse décisionnelle globale.</a:t>
            </a:r>
          </a:p>
          <a:p>
            <a:pPr>
              <a:lnSpc>
                <a:spcPct val="125000"/>
              </a:lnSpc>
            </a:pPr>
            <a:endParaRPr lang="en-US" sz="1250" dirty="0">
              <a:solidFill>
                <a:srgbClr val="333333"/>
              </a:solidFill>
              <a:latin typeface="Calibri" pitchFamily="34" charset="0"/>
              <a:ea typeface="Calibri" pitchFamily="34" charset="-122"/>
              <a:cs typeface="Calibri" pitchFamily="34" charset="-120"/>
            </a:endParaRPr>
          </a:p>
        </p:txBody>
      </p:sp>
      <p:sp>
        <p:nvSpPr>
          <p:cNvPr id="6" name="Shape 4"/>
          <p:cNvSpPr/>
          <p:nvPr/>
        </p:nvSpPr>
        <p:spPr>
          <a:xfrm>
            <a:off x="6309360" y="1554480"/>
            <a:ext cx="5349240" cy="4480560"/>
          </a:xfrm>
          <a:prstGeom prst="rect">
            <a:avLst/>
          </a:prstGeom>
          <a:solidFill>
            <a:srgbClr val="0E2A45"/>
          </a:solidFill>
          <a:ln/>
        </p:spPr>
        <p:txBody>
          <a:bodyPr/>
          <a:lstStyle/>
          <a:p>
            <a:endParaRPr lang="fr-FR" dirty="0"/>
          </a:p>
        </p:txBody>
      </p:sp>
      <p:sp>
        <p:nvSpPr>
          <p:cNvPr id="7" name="Text 5"/>
          <p:cNvSpPr/>
          <p:nvPr/>
        </p:nvSpPr>
        <p:spPr>
          <a:xfrm>
            <a:off x="6583680" y="1783080"/>
            <a:ext cx="475488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Problèmes identifiés</a:t>
            </a:r>
            <a:endParaRPr lang="en-US" sz="1600" dirty="0"/>
          </a:p>
        </p:txBody>
      </p:sp>
      <p:sp>
        <p:nvSpPr>
          <p:cNvPr id="8" name="Text 6"/>
          <p:cNvSpPr/>
          <p:nvPr/>
        </p:nvSpPr>
        <p:spPr>
          <a:xfrm>
            <a:off x="6492240" y="1399032"/>
            <a:ext cx="4846320" cy="3474720"/>
          </a:xfrm>
          <a:prstGeom prst="rect">
            <a:avLst/>
          </a:prstGeom>
          <a:noFill/>
          <a:ln/>
        </p:spPr>
        <p:txBody>
          <a:bodyPr wrap="square" rtlCol="0" anchor="ctr"/>
          <a:lstStyle/>
          <a:p>
            <a:pPr marL="342900" indent="-342900">
              <a:spcAft>
                <a:spcPts val="1400"/>
              </a:spcAft>
              <a:buSzPct val="100000"/>
              <a:buChar char="•"/>
            </a:pPr>
            <a:r>
              <a:rPr lang="fr-MA" sz="1300" dirty="0">
                <a:solidFill>
                  <a:srgbClr val="E3ECF5"/>
                </a:solidFill>
                <a:latin typeface="Calibri" pitchFamily="34" charset="0"/>
                <a:ea typeface="Calibri" pitchFamily="34" charset="-122"/>
                <a:cs typeface="Calibri" pitchFamily="34" charset="-120"/>
              </a:rPr>
              <a:t>Absence d'une vision consolidée des indicateurs hospitaliers. </a:t>
            </a:r>
          </a:p>
          <a:p>
            <a:pPr marL="342900" indent="-342900">
              <a:spcAft>
                <a:spcPts val="1400"/>
              </a:spcAft>
              <a:buSzPct val="100000"/>
              <a:buChar char="•"/>
            </a:pPr>
            <a:r>
              <a:rPr lang="en-US" sz="1300" dirty="0">
                <a:solidFill>
                  <a:srgbClr val="E3ECF5"/>
                </a:solidFill>
                <a:latin typeface="Calibri" pitchFamily="34" charset="0"/>
                <a:ea typeface="Calibri" pitchFamily="34" charset="-122"/>
                <a:cs typeface="Calibri" pitchFamily="34" charset="-120"/>
              </a:rPr>
              <a:t>Pas de suivi de la durée moyenne de séjour par service</a:t>
            </a:r>
            <a:endParaRPr lang="en-US" sz="1300" dirty="0"/>
          </a:p>
          <a:p>
            <a:pPr marL="342900" indent="-342900">
              <a:spcAft>
                <a:spcPts val="1400"/>
              </a:spcAft>
              <a:buSzPct val="100000"/>
              <a:buChar char="•"/>
            </a:pPr>
            <a:r>
              <a:rPr lang="en-US" sz="1300" dirty="0">
                <a:solidFill>
                  <a:srgbClr val="E3ECF5"/>
                </a:solidFill>
                <a:latin typeface="Calibri" pitchFamily="34" charset="0"/>
                <a:ea typeface="Calibri" pitchFamily="34" charset="-122"/>
                <a:cs typeface="Calibri" pitchFamily="34" charset="-120"/>
              </a:rPr>
              <a:t>Absence de suivi du taux de réadmission à 30 jours</a:t>
            </a:r>
            <a:endParaRPr lang="en-US" sz="1300" dirty="0"/>
          </a:p>
          <a:p>
            <a:pPr marL="342900" indent="-342900">
              <a:spcAft>
                <a:spcPts val="1400"/>
              </a:spcAft>
              <a:buSzPct val="100000"/>
              <a:buChar char="•"/>
            </a:pPr>
            <a:r>
              <a:rPr lang="en-US" sz="1300" dirty="0">
                <a:solidFill>
                  <a:srgbClr val="E3ECF5"/>
                </a:solidFill>
                <a:latin typeface="Calibri" pitchFamily="34" charset="0"/>
                <a:ea typeface="Calibri" pitchFamily="34" charset="-122"/>
                <a:cs typeface="Calibri" pitchFamily="34" charset="-120"/>
              </a:rPr>
              <a:t>Requêtes SQL manuelles répétées à chaque analyse</a:t>
            </a:r>
            <a:endParaRPr lang="en-US" sz="1300" dirty="0"/>
          </a:p>
        </p:txBody>
      </p:sp>
      <p:sp>
        <p:nvSpPr>
          <p:cNvPr id="9" name="Text 7"/>
          <p:cNvSpPr/>
          <p:nvPr/>
        </p:nvSpPr>
        <p:spPr>
          <a:xfrm>
            <a:off x="457200" y="6519672"/>
            <a:ext cx="5486400" cy="256032"/>
          </a:xfrm>
          <a:prstGeom prst="rect">
            <a:avLst/>
          </a:prstGeom>
          <a:noFill/>
          <a:ln/>
        </p:spPr>
        <p:txBody>
          <a:bodyPr wrap="square" rtlCol="0" anchor="ctr"/>
          <a:lstStyle/>
          <a:p>
            <a:pPr marL="0" indent="0">
              <a:buNone/>
            </a:pPr>
            <a:r>
              <a:rPr lang="en-US" sz="1000" dirty="0">
                <a:solidFill>
                  <a:srgbClr val="5F5E5A"/>
                </a:solidFill>
                <a:latin typeface="Calibri" pitchFamily="34" charset="0"/>
                <a:ea typeface="Calibri" pitchFamily="34" charset="-122"/>
                <a:cs typeface="Calibri" pitchFamily="34" charset="-120"/>
              </a:rPr>
              <a:t>1. Contexte</a:t>
            </a:r>
            <a:endParaRPr lang="en-US" sz="1000" dirty="0"/>
          </a:p>
        </p:txBody>
      </p:sp>
      <p:sp>
        <p:nvSpPr>
          <p:cNvPr id="10" name="Text 8"/>
          <p:cNvSpPr/>
          <p:nvPr/>
        </p:nvSpPr>
        <p:spPr>
          <a:xfrm>
            <a:off x="6675120" y="6519672"/>
            <a:ext cx="5029200" cy="256032"/>
          </a:xfrm>
          <a:prstGeom prst="rect">
            <a:avLst/>
          </a:prstGeom>
          <a:noFill/>
          <a:ln/>
        </p:spPr>
        <p:txBody>
          <a:bodyPr wrap="square" rtlCol="0" anchor="ctr"/>
          <a:lstStyle/>
          <a:p>
            <a:pPr marL="0" indent="0" algn="r">
              <a:buNone/>
            </a:pPr>
            <a:r>
              <a:rPr lang="en-US" sz="1000" dirty="0">
                <a:solidFill>
                  <a:srgbClr val="5F5E5A"/>
                </a:solidFill>
                <a:latin typeface="Calibri" pitchFamily="34" charset="0"/>
                <a:ea typeface="Calibri" pitchFamily="34" charset="-122"/>
                <a:cs typeface="Calibri" pitchFamily="34" charset="-120"/>
              </a:rPr>
              <a:t>CHU Ibn Sina — Plateforme BI Hospitalisation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pPr marL="0" indent="0">
              <a:buNone/>
            </a:pPr>
            <a:r>
              <a:rPr lang="en-US" sz="2800" b="1" dirty="0">
                <a:solidFill>
                  <a:srgbClr val="185FA5"/>
                </a:solidFill>
                <a:latin typeface="Cambria" pitchFamily="34" charset="0"/>
                <a:ea typeface="Cambria" pitchFamily="34" charset="-122"/>
                <a:cs typeface="Cambria" pitchFamily="34" charset="-120"/>
              </a:rPr>
              <a:t>Objectifs du Projet</a:t>
            </a:r>
            <a:endParaRPr lang="en-US" sz="2800" dirty="0"/>
          </a:p>
        </p:txBody>
      </p:sp>
      <p:sp>
        <p:nvSpPr>
          <p:cNvPr id="3" name="Shape 1"/>
          <p:cNvSpPr/>
          <p:nvPr/>
        </p:nvSpPr>
        <p:spPr>
          <a:xfrm>
            <a:off x="640080" y="1549400"/>
            <a:ext cx="5349240" cy="2824480"/>
          </a:xfrm>
          <a:prstGeom prst="rect">
            <a:avLst/>
          </a:prstGeom>
          <a:solidFill>
            <a:srgbClr val="FFFFFF"/>
          </a:solidFill>
          <a:ln w="12700">
            <a:solidFill>
              <a:srgbClr val="D9D9D9"/>
            </a:solidFill>
            <a:prstDash val="solid"/>
          </a:ln>
        </p:spPr>
        <p:txBody>
          <a:bodyPr/>
          <a:lstStyle/>
          <a:p>
            <a:endParaRPr lang="fr-FR"/>
          </a:p>
        </p:txBody>
      </p:sp>
      <p:sp>
        <p:nvSpPr>
          <p:cNvPr id="4" name="Text 2"/>
          <p:cNvSpPr/>
          <p:nvPr/>
        </p:nvSpPr>
        <p:spPr>
          <a:xfrm>
            <a:off x="822960" y="1737360"/>
            <a:ext cx="4572000" cy="365760"/>
          </a:xfrm>
          <a:prstGeom prst="rect">
            <a:avLst/>
          </a:prstGeom>
          <a:noFill/>
          <a:ln/>
        </p:spPr>
        <p:txBody>
          <a:bodyPr wrap="square" rtlCol="0" anchor="ctr"/>
          <a:lstStyle/>
          <a:p>
            <a:r>
              <a:rPr lang="fr-MA" sz="1600" dirty="0"/>
              <a:t>📊 </a:t>
            </a:r>
            <a:r>
              <a:rPr lang="en-US" sz="1500" b="1" dirty="0" err="1">
                <a:solidFill>
                  <a:srgbClr val="0E2A45"/>
                </a:solidFill>
                <a:latin typeface="Cambria" pitchFamily="34" charset="0"/>
                <a:ea typeface="Cambria" pitchFamily="34" charset="-122"/>
                <a:cs typeface="Cambria" pitchFamily="34" charset="-120"/>
              </a:rPr>
              <a:t>Objectifs</a:t>
            </a:r>
            <a:r>
              <a:rPr lang="en-US" sz="1500" b="1" dirty="0">
                <a:solidFill>
                  <a:srgbClr val="0E2A45"/>
                </a:solidFill>
                <a:latin typeface="Cambria" pitchFamily="34" charset="0"/>
                <a:ea typeface="Cambria" pitchFamily="34" charset="-122"/>
                <a:cs typeface="Cambria" pitchFamily="34" charset="-120"/>
              </a:rPr>
              <a:t> Fonctionnels</a:t>
            </a:r>
            <a:endParaRPr lang="en-US" sz="1500" dirty="0"/>
          </a:p>
        </p:txBody>
      </p:sp>
      <p:sp>
        <p:nvSpPr>
          <p:cNvPr id="5" name="Text 3"/>
          <p:cNvSpPr/>
          <p:nvPr/>
        </p:nvSpPr>
        <p:spPr>
          <a:xfrm>
            <a:off x="822960" y="1534160"/>
            <a:ext cx="4754880" cy="3566160"/>
          </a:xfrm>
          <a:prstGeom prst="rect">
            <a:avLst/>
          </a:prstGeom>
          <a:noFill/>
          <a:ln/>
        </p:spPr>
        <p:txBody>
          <a:bodyPr wrap="square" rtlCol="0" anchor="ctr"/>
          <a:lstStyle/>
          <a:p>
            <a:pPr marL="285750" lvl="0" indent="-285750">
              <a:buFont typeface="Arial" panose="020B0604020202020204" pitchFamily="34" charset="0"/>
              <a:buChar char="•"/>
            </a:pPr>
            <a:r>
              <a:rPr lang="fr-MA" sz="1250" dirty="0">
                <a:solidFill>
                  <a:srgbClr val="333333"/>
                </a:solidFill>
                <a:latin typeface="Calibri" pitchFamily="34" charset="0"/>
                <a:ea typeface="Calibri" pitchFamily="34" charset="-122"/>
                <a:cs typeface="Calibri" pitchFamily="34" charset="-120"/>
              </a:rPr>
              <a:t>Fournir une vision consolidée des hospitalisations. </a:t>
            </a:r>
          </a:p>
          <a:p>
            <a:pPr lvl="0"/>
            <a:endParaRPr lang="fr-MA" sz="1250" dirty="0">
              <a:solidFill>
                <a:srgbClr val="333333"/>
              </a:solidFill>
              <a:latin typeface="Calibri" pitchFamily="34" charset="0"/>
              <a:ea typeface="Calibri" pitchFamily="34" charset="-122"/>
              <a:cs typeface="Calibri" pitchFamily="34" charset="-120"/>
            </a:endParaRPr>
          </a:p>
          <a:p>
            <a:pPr marL="285750" lvl="0" indent="-285750">
              <a:buFont typeface="Arial" panose="020B0604020202020204" pitchFamily="34" charset="0"/>
              <a:buChar char="•"/>
            </a:pPr>
            <a:r>
              <a:rPr lang="fr-MA" sz="1250" dirty="0">
                <a:solidFill>
                  <a:srgbClr val="333333"/>
                </a:solidFill>
                <a:latin typeface="Calibri" pitchFamily="34" charset="0"/>
                <a:ea typeface="Calibri" pitchFamily="34" charset="-122"/>
                <a:cs typeface="Calibri" pitchFamily="34" charset="-120"/>
              </a:rPr>
              <a:t>Suivre les principaux indicateurs de performance (DMS, taux d'occupation, réadmission et mortalité). </a:t>
            </a:r>
          </a:p>
          <a:p>
            <a:pPr lvl="0"/>
            <a:endParaRPr lang="fr-MA" sz="1250" dirty="0">
              <a:solidFill>
                <a:srgbClr val="333333"/>
              </a:solidFill>
              <a:latin typeface="Calibri" pitchFamily="34" charset="0"/>
              <a:ea typeface="Calibri" pitchFamily="34" charset="-122"/>
              <a:cs typeface="Calibri" pitchFamily="34" charset="-120"/>
            </a:endParaRPr>
          </a:p>
          <a:p>
            <a:pPr marL="285750" lvl="0" indent="-285750">
              <a:buFont typeface="Arial" panose="020B0604020202020204" pitchFamily="34" charset="0"/>
              <a:buChar char="•"/>
            </a:pPr>
            <a:r>
              <a:rPr lang="fr-MA" sz="1250" dirty="0">
                <a:solidFill>
                  <a:srgbClr val="333333"/>
                </a:solidFill>
                <a:latin typeface="Calibri" pitchFamily="34" charset="0"/>
                <a:ea typeface="Calibri" pitchFamily="34" charset="-122"/>
                <a:cs typeface="Calibri" pitchFamily="34" charset="-120"/>
              </a:rPr>
              <a:t>Faciliter la prise de décision grâce à des tableaux de bord interactifs.</a:t>
            </a:r>
          </a:p>
          <a:p>
            <a:pPr marL="342900" indent="-342900">
              <a:spcAft>
                <a:spcPts val="1400"/>
              </a:spcAft>
              <a:buSzPct val="100000"/>
              <a:buChar char="•"/>
            </a:pPr>
            <a:endParaRPr lang="en-US" sz="1250" dirty="0"/>
          </a:p>
        </p:txBody>
      </p:sp>
      <p:sp>
        <p:nvSpPr>
          <p:cNvPr id="6" name="Shape 4"/>
          <p:cNvSpPr/>
          <p:nvPr/>
        </p:nvSpPr>
        <p:spPr>
          <a:xfrm>
            <a:off x="6096000" y="1554480"/>
            <a:ext cx="5349240" cy="2824480"/>
          </a:xfrm>
          <a:prstGeom prst="rect">
            <a:avLst/>
          </a:prstGeom>
          <a:solidFill>
            <a:srgbClr val="FFFFFF"/>
          </a:solidFill>
          <a:ln w="12700">
            <a:solidFill>
              <a:srgbClr val="D9D9D9"/>
            </a:solidFill>
            <a:prstDash val="solid"/>
          </a:ln>
        </p:spPr>
        <p:txBody>
          <a:bodyPr/>
          <a:lstStyle/>
          <a:p>
            <a:endParaRPr lang="fr-FR" dirty="0"/>
          </a:p>
        </p:txBody>
      </p:sp>
      <p:sp>
        <p:nvSpPr>
          <p:cNvPr id="7" name="Text 5"/>
          <p:cNvSpPr/>
          <p:nvPr/>
        </p:nvSpPr>
        <p:spPr>
          <a:xfrm>
            <a:off x="6583680" y="1737360"/>
            <a:ext cx="4572000" cy="365760"/>
          </a:xfrm>
          <a:prstGeom prst="rect">
            <a:avLst/>
          </a:prstGeom>
          <a:noFill/>
          <a:ln/>
        </p:spPr>
        <p:txBody>
          <a:bodyPr wrap="square" rtlCol="0" anchor="ctr"/>
          <a:lstStyle/>
          <a:p>
            <a:r>
              <a:rPr lang="fr-MA" sz="1600" dirty="0"/>
              <a:t>⚙️ </a:t>
            </a:r>
            <a:r>
              <a:rPr lang="en-US" sz="1500" b="1" dirty="0" err="1">
                <a:solidFill>
                  <a:srgbClr val="0E2A45"/>
                </a:solidFill>
                <a:latin typeface="Cambria" pitchFamily="34" charset="0"/>
                <a:ea typeface="Cambria" pitchFamily="34" charset="-122"/>
                <a:cs typeface="Cambria" pitchFamily="34" charset="-120"/>
              </a:rPr>
              <a:t>Objectifs</a:t>
            </a:r>
            <a:r>
              <a:rPr lang="en-US" sz="1500" b="1" dirty="0">
                <a:solidFill>
                  <a:srgbClr val="0E2A45"/>
                </a:solidFill>
                <a:latin typeface="Cambria" pitchFamily="34" charset="0"/>
                <a:ea typeface="Cambria" pitchFamily="34" charset="-122"/>
                <a:cs typeface="Cambria" pitchFamily="34" charset="-120"/>
              </a:rPr>
              <a:t> Techniques</a:t>
            </a:r>
            <a:endParaRPr lang="en-US" sz="1500" dirty="0"/>
          </a:p>
        </p:txBody>
      </p:sp>
      <p:sp>
        <p:nvSpPr>
          <p:cNvPr id="8" name="Text 6"/>
          <p:cNvSpPr/>
          <p:nvPr/>
        </p:nvSpPr>
        <p:spPr>
          <a:xfrm>
            <a:off x="6583680" y="1549400"/>
            <a:ext cx="4754880" cy="3566160"/>
          </a:xfrm>
          <a:prstGeom prst="rect">
            <a:avLst/>
          </a:prstGeom>
          <a:noFill/>
          <a:ln/>
        </p:spPr>
        <p:txBody>
          <a:bodyPr wrap="square" rtlCol="0" anchor="ctr"/>
          <a:lstStyle/>
          <a:p>
            <a:pPr>
              <a:spcAft>
                <a:spcPts val="1400"/>
              </a:spcAft>
              <a:buSzPct val="100000"/>
            </a:pPr>
            <a:endParaRPr lang="en-US" sz="1250" dirty="0">
              <a:solidFill>
                <a:srgbClr val="333333"/>
              </a:solidFill>
              <a:latin typeface="Calibri" pitchFamily="34" charset="0"/>
              <a:ea typeface="Calibri" pitchFamily="34" charset="-122"/>
              <a:cs typeface="Calibri" pitchFamily="34" charset="-120"/>
            </a:endParaRPr>
          </a:p>
          <a:p>
            <a:pPr marL="285750" lvl="0" indent="-285750">
              <a:buFont typeface="Arial" panose="020B0604020202020204" pitchFamily="34" charset="0"/>
              <a:buChar char="•"/>
            </a:pPr>
            <a:r>
              <a:rPr lang="fr-MA" sz="1250" dirty="0">
                <a:solidFill>
                  <a:srgbClr val="333333"/>
                </a:solidFill>
                <a:latin typeface="Calibri" pitchFamily="34" charset="0"/>
                <a:ea typeface="Calibri" pitchFamily="34" charset="-122"/>
                <a:cs typeface="Calibri" pitchFamily="34" charset="-120"/>
              </a:rPr>
              <a:t>Concevoir une architecture </a:t>
            </a:r>
            <a:r>
              <a:rPr lang="fr-MA" sz="1250" dirty="0" err="1">
                <a:solidFill>
                  <a:srgbClr val="333333"/>
                </a:solidFill>
                <a:latin typeface="Calibri" pitchFamily="34" charset="0"/>
                <a:ea typeface="Calibri" pitchFamily="34" charset="-122"/>
                <a:cs typeface="Calibri" pitchFamily="34" charset="-120"/>
              </a:rPr>
              <a:t>Medallion</a:t>
            </a:r>
            <a:r>
              <a:rPr lang="fr-MA" sz="1250" dirty="0">
                <a:solidFill>
                  <a:srgbClr val="333333"/>
                </a:solidFill>
                <a:latin typeface="Calibri" pitchFamily="34" charset="0"/>
                <a:ea typeface="Calibri" pitchFamily="34" charset="-122"/>
                <a:cs typeface="Calibri" pitchFamily="34" charset="-120"/>
              </a:rPr>
              <a:t> (Bronze, Silver, Gold). </a:t>
            </a:r>
          </a:p>
          <a:p>
            <a:pPr lvl="0"/>
            <a:endParaRPr lang="fr-MA" sz="1250" dirty="0">
              <a:solidFill>
                <a:srgbClr val="333333"/>
              </a:solidFill>
              <a:latin typeface="Calibri" pitchFamily="34" charset="0"/>
              <a:ea typeface="Calibri" pitchFamily="34" charset="-122"/>
              <a:cs typeface="Calibri" pitchFamily="34" charset="-120"/>
            </a:endParaRPr>
          </a:p>
          <a:p>
            <a:pPr marL="285750" lvl="0" indent="-285750">
              <a:buFont typeface="Arial" panose="020B0604020202020204" pitchFamily="34" charset="0"/>
              <a:buChar char="•"/>
            </a:pPr>
            <a:r>
              <a:rPr lang="fr-MA" sz="1250" dirty="0">
                <a:solidFill>
                  <a:srgbClr val="333333"/>
                </a:solidFill>
                <a:latin typeface="Calibri" pitchFamily="34" charset="0"/>
                <a:ea typeface="Calibri" pitchFamily="34" charset="-122"/>
                <a:cs typeface="Calibri" pitchFamily="34" charset="-120"/>
              </a:rPr>
              <a:t>Mettre en place un Data Warehouse en schéma en étoile. </a:t>
            </a:r>
          </a:p>
          <a:p>
            <a:pPr lvl="0"/>
            <a:endParaRPr lang="fr-MA" sz="1250" dirty="0">
              <a:solidFill>
                <a:srgbClr val="333333"/>
              </a:solidFill>
              <a:latin typeface="Calibri" pitchFamily="34" charset="0"/>
              <a:ea typeface="Calibri" pitchFamily="34" charset="-122"/>
              <a:cs typeface="Calibri" pitchFamily="34" charset="-120"/>
            </a:endParaRPr>
          </a:p>
          <a:p>
            <a:pPr marL="285750" lvl="0" indent="-285750">
              <a:buFont typeface="Arial" panose="020B0604020202020204" pitchFamily="34" charset="0"/>
              <a:buChar char="•"/>
            </a:pPr>
            <a:r>
              <a:rPr lang="fr-MA" sz="1250" dirty="0">
                <a:solidFill>
                  <a:srgbClr val="333333"/>
                </a:solidFill>
                <a:latin typeface="Calibri" pitchFamily="34" charset="0"/>
                <a:ea typeface="Calibri" pitchFamily="34" charset="-122"/>
                <a:cs typeface="Calibri" pitchFamily="34" charset="-120"/>
              </a:rPr>
              <a:t>Développer un processus ETL avec SSIS. </a:t>
            </a:r>
          </a:p>
          <a:p>
            <a:pPr lvl="0"/>
            <a:endParaRPr lang="fr-MA" sz="1250" dirty="0">
              <a:solidFill>
                <a:srgbClr val="333333"/>
              </a:solidFill>
              <a:latin typeface="Calibri" pitchFamily="34" charset="0"/>
              <a:ea typeface="Calibri" pitchFamily="34" charset="-122"/>
              <a:cs typeface="Calibri" pitchFamily="34" charset="-120"/>
            </a:endParaRPr>
          </a:p>
          <a:p>
            <a:pPr marL="285750" lvl="0" indent="-285750">
              <a:buFont typeface="Arial" panose="020B0604020202020204" pitchFamily="34" charset="0"/>
              <a:buChar char="•"/>
            </a:pPr>
            <a:r>
              <a:rPr lang="fr-MA" sz="1250" dirty="0">
                <a:solidFill>
                  <a:srgbClr val="333333"/>
                </a:solidFill>
                <a:latin typeface="Calibri" pitchFamily="34" charset="0"/>
                <a:ea typeface="Calibri" pitchFamily="34" charset="-122"/>
                <a:cs typeface="Calibri" pitchFamily="34" charset="-120"/>
              </a:rPr>
              <a:t>Construire un cube OLAP avec SSAS. </a:t>
            </a:r>
          </a:p>
          <a:p>
            <a:pPr lvl="0"/>
            <a:endParaRPr lang="fr-MA" sz="1250" dirty="0">
              <a:solidFill>
                <a:srgbClr val="333333"/>
              </a:solidFill>
              <a:latin typeface="Calibri" pitchFamily="34" charset="0"/>
              <a:ea typeface="Calibri" pitchFamily="34" charset="-122"/>
              <a:cs typeface="Calibri" pitchFamily="34" charset="-120"/>
            </a:endParaRPr>
          </a:p>
          <a:p>
            <a:pPr marL="285750" lvl="0" indent="-285750">
              <a:buFont typeface="Arial" panose="020B0604020202020204" pitchFamily="34" charset="0"/>
              <a:buChar char="•"/>
            </a:pPr>
            <a:r>
              <a:rPr lang="fr-MA" sz="1250" dirty="0">
                <a:solidFill>
                  <a:srgbClr val="333333"/>
                </a:solidFill>
                <a:latin typeface="Calibri" pitchFamily="34" charset="0"/>
                <a:ea typeface="Calibri" pitchFamily="34" charset="-122"/>
                <a:cs typeface="Calibri" pitchFamily="34" charset="-120"/>
              </a:rPr>
              <a:t>Concevoir des tableaux de bord interactifs avec Power BI.</a:t>
            </a:r>
          </a:p>
          <a:p>
            <a:pPr marL="342900" indent="-342900">
              <a:spcAft>
                <a:spcPts val="1400"/>
              </a:spcAft>
              <a:buSzPct val="100000"/>
              <a:buChar char="•"/>
            </a:pPr>
            <a:endParaRPr lang="en-US" sz="1250" dirty="0"/>
          </a:p>
        </p:txBody>
      </p:sp>
      <p:sp>
        <p:nvSpPr>
          <p:cNvPr id="9" name="Text 7"/>
          <p:cNvSpPr/>
          <p:nvPr/>
        </p:nvSpPr>
        <p:spPr>
          <a:xfrm>
            <a:off x="457200" y="6519672"/>
            <a:ext cx="5486400" cy="256032"/>
          </a:xfrm>
          <a:prstGeom prst="rect">
            <a:avLst/>
          </a:prstGeom>
          <a:noFill/>
          <a:ln/>
        </p:spPr>
        <p:txBody>
          <a:bodyPr wrap="square" rtlCol="0" anchor="ctr"/>
          <a:lstStyle/>
          <a:p>
            <a:pPr marL="0" indent="0">
              <a:buNone/>
            </a:pPr>
            <a:r>
              <a:rPr lang="en-US" sz="1000" dirty="0">
                <a:solidFill>
                  <a:srgbClr val="5F5E5A"/>
                </a:solidFill>
                <a:latin typeface="Calibri" pitchFamily="34" charset="0"/>
                <a:ea typeface="Calibri" pitchFamily="34" charset="-122"/>
                <a:cs typeface="Calibri" pitchFamily="34" charset="-120"/>
              </a:rPr>
              <a:t>1. Objectifs</a:t>
            </a:r>
            <a:endParaRPr lang="en-US" sz="1000" dirty="0"/>
          </a:p>
        </p:txBody>
      </p:sp>
      <p:sp>
        <p:nvSpPr>
          <p:cNvPr id="10" name="Text 8"/>
          <p:cNvSpPr/>
          <p:nvPr/>
        </p:nvSpPr>
        <p:spPr>
          <a:xfrm>
            <a:off x="6675120" y="6519672"/>
            <a:ext cx="5029200" cy="256032"/>
          </a:xfrm>
          <a:prstGeom prst="rect">
            <a:avLst/>
          </a:prstGeom>
          <a:noFill/>
          <a:ln/>
        </p:spPr>
        <p:txBody>
          <a:bodyPr wrap="square" rtlCol="0" anchor="ctr"/>
          <a:lstStyle/>
          <a:p>
            <a:pPr marL="0" indent="0" algn="r">
              <a:buNone/>
            </a:pPr>
            <a:r>
              <a:rPr lang="en-US" sz="1000" dirty="0">
                <a:solidFill>
                  <a:srgbClr val="5F5E5A"/>
                </a:solidFill>
                <a:latin typeface="Calibri" pitchFamily="34" charset="0"/>
                <a:ea typeface="Calibri" pitchFamily="34" charset="-122"/>
                <a:cs typeface="Calibri" pitchFamily="34" charset="-120"/>
              </a:rPr>
              <a:t>CHU Ibn Sina — Plateforme BI Hospitalisation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pPr marL="0" indent="0">
              <a:buNone/>
            </a:pPr>
            <a:r>
              <a:rPr lang="en-US" sz="2800" b="1" dirty="0">
                <a:solidFill>
                  <a:srgbClr val="185FA5"/>
                </a:solidFill>
                <a:latin typeface="Cambria" pitchFamily="34" charset="0"/>
                <a:ea typeface="Cambria" pitchFamily="34" charset="-122"/>
                <a:cs typeface="Cambria" pitchFamily="34" charset="-120"/>
              </a:rPr>
              <a:t>Architecture Medallion</a:t>
            </a:r>
            <a:endParaRPr lang="en-US" sz="2800" dirty="0"/>
          </a:p>
        </p:txBody>
      </p:sp>
      <p:sp>
        <p:nvSpPr>
          <p:cNvPr id="3" name="Text 1"/>
          <p:cNvSpPr/>
          <p:nvPr/>
        </p:nvSpPr>
        <p:spPr>
          <a:xfrm>
            <a:off x="548640" y="896112"/>
            <a:ext cx="11064240" cy="704088"/>
          </a:xfrm>
          <a:prstGeom prst="rect">
            <a:avLst/>
          </a:prstGeom>
          <a:noFill/>
          <a:ln/>
        </p:spPr>
        <p:txBody>
          <a:bodyPr wrap="square" rtlCol="0" anchor="ctr"/>
          <a:lstStyle/>
          <a:p>
            <a:r>
              <a:rPr lang="fr-MA" sz="1300" i="1" dirty="0">
                <a:solidFill>
                  <a:srgbClr val="5F5E5A"/>
                </a:solidFill>
                <a:latin typeface="Calibri" pitchFamily="34" charset="0"/>
                <a:ea typeface="Calibri" pitchFamily="34" charset="-122"/>
                <a:cs typeface="Calibri" pitchFamily="34" charset="-120"/>
              </a:rPr>
              <a:t>L'architecture </a:t>
            </a:r>
            <a:r>
              <a:rPr lang="fr-MA" sz="1300" i="1" dirty="0" err="1">
                <a:solidFill>
                  <a:srgbClr val="5F5E5A"/>
                </a:solidFill>
                <a:latin typeface="Calibri" pitchFamily="34" charset="0"/>
                <a:ea typeface="Calibri" pitchFamily="34" charset="-122"/>
                <a:cs typeface="Calibri" pitchFamily="34" charset="-120"/>
              </a:rPr>
              <a:t>Medallion</a:t>
            </a:r>
            <a:r>
              <a:rPr lang="fr-MA" sz="1300" i="1" dirty="0">
                <a:solidFill>
                  <a:srgbClr val="5F5E5A"/>
                </a:solidFill>
                <a:latin typeface="Calibri" pitchFamily="34" charset="0"/>
                <a:ea typeface="Calibri" pitchFamily="34" charset="-122"/>
                <a:cs typeface="Calibri" pitchFamily="34" charset="-120"/>
              </a:rPr>
              <a:t> organise les données en trois couches afin d'assurer leur qualité, leur traçabilité et leur préparation pour l'analyse décisionnelle.</a:t>
            </a:r>
            <a:endParaRPr lang="en-US" sz="1300" i="1" dirty="0">
              <a:solidFill>
                <a:srgbClr val="5F5E5A"/>
              </a:solidFill>
              <a:latin typeface="Calibri" pitchFamily="34" charset="0"/>
              <a:ea typeface="Calibri" pitchFamily="34" charset="-122"/>
              <a:cs typeface="Calibri" pitchFamily="34" charset="-120"/>
            </a:endParaRPr>
          </a:p>
          <a:p>
            <a:endParaRPr lang="fr-MA" sz="1400" dirty="0"/>
          </a:p>
          <a:p>
            <a:pPr algn="ctr"/>
            <a:r>
              <a:rPr lang="fr-MA" sz="1400" dirty="0"/>
              <a:t>🟤 </a:t>
            </a:r>
            <a:r>
              <a:rPr lang="en-US" sz="1300" i="1" dirty="0">
                <a:solidFill>
                  <a:srgbClr val="5F5E5A"/>
                </a:solidFill>
                <a:latin typeface="Calibri" pitchFamily="34" charset="0"/>
                <a:ea typeface="Calibri" pitchFamily="34" charset="-122"/>
                <a:cs typeface="Calibri" pitchFamily="34" charset="-120"/>
              </a:rPr>
              <a:t>Bronze → </a:t>
            </a:r>
            <a:r>
              <a:rPr lang="fr-MA" sz="1400" dirty="0"/>
              <a:t>⚪</a:t>
            </a:r>
            <a:r>
              <a:rPr lang="en-US" sz="1300" i="1" dirty="0">
                <a:solidFill>
                  <a:srgbClr val="5F5E5A"/>
                </a:solidFill>
                <a:latin typeface="Calibri" pitchFamily="34" charset="0"/>
                <a:ea typeface="Calibri" pitchFamily="34" charset="-122"/>
                <a:cs typeface="Calibri" pitchFamily="34" charset="-120"/>
              </a:rPr>
              <a:t> Silver → </a:t>
            </a:r>
            <a:r>
              <a:rPr lang="fr-MA" sz="1400" dirty="0"/>
              <a:t>🟡 </a:t>
            </a:r>
            <a:r>
              <a:rPr lang="en-US" sz="1300" i="1" dirty="0">
                <a:solidFill>
                  <a:srgbClr val="5F5E5A"/>
                </a:solidFill>
                <a:latin typeface="Calibri" pitchFamily="34" charset="0"/>
                <a:ea typeface="Calibri" pitchFamily="34" charset="-122"/>
                <a:cs typeface="Calibri" pitchFamily="34" charset="-120"/>
              </a:rPr>
              <a:t>Gold</a:t>
            </a:r>
            <a:endParaRPr lang="en-US" sz="1300" dirty="0"/>
          </a:p>
        </p:txBody>
      </p:sp>
      <p:pic>
        <p:nvPicPr>
          <p:cNvPr id="4" name="Image 0" descr="/home/claude/hospit/fig_architecture.png"/>
          <p:cNvPicPr>
            <a:picLocks noChangeAspect="1"/>
          </p:cNvPicPr>
          <p:nvPr/>
        </p:nvPicPr>
        <p:blipFill>
          <a:blip r:embed="rId3"/>
          <a:stretch>
            <a:fillRect/>
          </a:stretch>
        </p:blipFill>
        <p:spPr>
          <a:xfrm>
            <a:off x="1048734" y="1600200"/>
            <a:ext cx="10064051" cy="4846320"/>
          </a:xfrm>
          <a:prstGeom prst="rect">
            <a:avLst/>
          </a:prstGeom>
        </p:spPr>
      </p:pic>
      <p:sp>
        <p:nvSpPr>
          <p:cNvPr id="5" name="Text 2"/>
          <p:cNvSpPr/>
          <p:nvPr/>
        </p:nvSpPr>
        <p:spPr>
          <a:xfrm>
            <a:off x="457200" y="6519672"/>
            <a:ext cx="5486400" cy="256032"/>
          </a:xfrm>
          <a:prstGeom prst="rect">
            <a:avLst/>
          </a:prstGeom>
          <a:noFill/>
          <a:ln/>
        </p:spPr>
        <p:txBody>
          <a:bodyPr wrap="square" rtlCol="0" anchor="ctr"/>
          <a:lstStyle/>
          <a:p>
            <a:pPr marL="0" indent="0">
              <a:buNone/>
            </a:pPr>
            <a:r>
              <a:rPr lang="en-US" sz="1000" dirty="0">
                <a:solidFill>
                  <a:srgbClr val="5F5E5A"/>
                </a:solidFill>
                <a:latin typeface="Calibri" pitchFamily="34" charset="0"/>
                <a:ea typeface="Calibri" pitchFamily="34" charset="-122"/>
                <a:cs typeface="Calibri" pitchFamily="34" charset="-120"/>
              </a:rPr>
              <a:t>2. Architecture</a:t>
            </a:r>
            <a:endParaRPr lang="en-US" sz="1000" dirty="0"/>
          </a:p>
        </p:txBody>
      </p:sp>
      <p:sp>
        <p:nvSpPr>
          <p:cNvPr id="6" name="Text 3"/>
          <p:cNvSpPr/>
          <p:nvPr/>
        </p:nvSpPr>
        <p:spPr>
          <a:xfrm>
            <a:off x="6675120" y="6519672"/>
            <a:ext cx="5029200" cy="256032"/>
          </a:xfrm>
          <a:prstGeom prst="rect">
            <a:avLst/>
          </a:prstGeom>
          <a:noFill/>
          <a:ln/>
        </p:spPr>
        <p:txBody>
          <a:bodyPr wrap="square" rtlCol="0" anchor="ctr"/>
          <a:lstStyle/>
          <a:p>
            <a:pPr marL="0" indent="0" algn="r">
              <a:buNone/>
            </a:pPr>
            <a:r>
              <a:rPr lang="en-US" sz="1000" dirty="0">
                <a:solidFill>
                  <a:srgbClr val="5F5E5A"/>
                </a:solidFill>
                <a:latin typeface="Calibri" pitchFamily="34" charset="0"/>
                <a:ea typeface="Calibri" pitchFamily="34" charset="-122"/>
                <a:cs typeface="Calibri" pitchFamily="34" charset="-120"/>
              </a:rPr>
              <a:t>CHU Ibn Sina — Plateforme BI Hospitalisation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pPr marL="0" indent="0">
              <a:buNone/>
            </a:pPr>
            <a:r>
              <a:rPr lang="en-US" sz="2800" b="1" dirty="0" err="1">
                <a:solidFill>
                  <a:srgbClr val="185FA5"/>
                </a:solidFill>
                <a:latin typeface="Cambria" pitchFamily="34" charset="0"/>
                <a:ea typeface="Cambria" pitchFamily="34" charset="-122"/>
                <a:cs typeface="Cambria" pitchFamily="34" charset="-120"/>
              </a:rPr>
              <a:t>Modélisation</a:t>
            </a:r>
            <a:r>
              <a:rPr lang="en-US" sz="2800" b="1" dirty="0">
                <a:solidFill>
                  <a:srgbClr val="185FA5"/>
                </a:solidFill>
                <a:latin typeface="Cambria" pitchFamily="34" charset="0"/>
                <a:ea typeface="Cambria" pitchFamily="34" charset="-122"/>
                <a:cs typeface="Cambria" pitchFamily="34" charset="-120"/>
              </a:rPr>
              <a:t> </a:t>
            </a:r>
            <a:r>
              <a:rPr lang="en-US" sz="2800" b="1" dirty="0" err="1">
                <a:solidFill>
                  <a:srgbClr val="185FA5"/>
                </a:solidFill>
                <a:latin typeface="Cambria" pitchFamily="34" charset="0"/>
                <a:ea typeface="Cambria" pitchFamily="34" charset="-122"/>
                <a:cs typeface="Cambria" pitchFamily="34" charset="-120"/>
              </a:rPr>
              <a:t>en</a:t>
            </a:r>
            <a:r>
              <a:rPr lang="en-US" sz="2800" b="1" dirty="0">
                <a:solidFill>
                  <a:srgbClr val="185FA5"/>
                </a:solidFill>
                <a:latin typeface="Cambria" pitchFamily="34" charset="0"/>
                <a:ea typeface="Cambria" pitchFamily="34" charset="-122"/>
                <a:cs typeface="Cambria" pitchFamily="34" charset="-120"/>
              </a:rPr>
              <a:t> Étoile</a:t>
            </a:r>
            <a:endParaRPr lang="en-US" sz="2800" dirty="0"/>
          </a:p>
        </p:txBody>
      </p:sp>
      <p:sp>
        <p:nvSpPr>
          <p:cNvPr id="3" name="Text 1"/>
          <p:cNvSpPr/>
          <p:nvPr/>
        </p:nvSpPr>
        <p:spPr>
          <a:xfrm>
            <a:off x="548640" y="896112"/>
            <a:ext cx="11064240" cy="347472"/>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FACT_Hospitalisations et 6 dimensions</a:t>
            </a:r>
            <a:endParaRPr lang="en-US" sz="1300" dirty="0"/>
          </a:p>
        </p:txBody>
      </p:sp>
      <p:pic>
        <p:nvPicPr>
          <p:cNvPr id="4" name="Image 0" descr="/home/claude/hospit/fig_mld.png"/>
          <p:cNvPicPr>
            <a:picLocks noChangeAspect="1"/>
          </p:cNvPicPr>
          <p:nvPr/>
        </p:nvPicPr>
        <p:blipFill>
          <a:blip r:embed="rId3"/>
          <a:stretch>
            <a:fillRect/>
          </a:stretch>
        </p:blipFill>
        <p:spPr>
          <a:xfrm>
            <a:off x="5791200" y="1312886"/>
            <a:ext cx="4218419" cy="3749040"/>
          </a:xfrm>
          <a:prstGeom prst="rect">
            <a:avLst/>
          </a:prstGeom>
        </p:spPr>
      </p:pic>
      <p:sp>
        <p:nvSpPr>
          <p:cNvPr id="5" name="Shape 2"/>
          <p:cNvSpPr/>
          <p:nvPr/>
        </p:nvSpPr>
        <p:spPr>
          <a:xfrm>
            <a:off x="548640" y="1312886"/>
            <a:ext cx="3063240" cy="4572000"/>
          </a:xfrm>
          <a:prstGeom prst="rect">
            <a:avLst/>
          </a:prstGeom>
          <a:solidFill>
            <a:srgbClr val="F0F4F8"/>
          </a:solidFill>
          <a:ln w="12700">
            <a:solidFill>
              <a:srgbClr val="D9D9D9"/>
            </a:solidFill>
            <a:prstDash val="solid"/>
          </a:ln>
        </p:spPr>
        <p:txBody>
          <a:bodyPr/>
          <a:lstStyle/>
          <a:p>
            <a:endParaRPr lang="fr-FR"/>
          </a:p>
        </p:txBody>
      </p:sp>
      <p:sp>
        <p:nvSpPr>
          <p:cNvPr id="6" name="Text 3"/>
          <p:cNvSpPr/>
          <p:nvPr/>
        </p:nvSpPr>
        <p:spPr>
          <a:xfrm>
            <a:off x="685800" y="1965960"/>
            <a:ext cx="2651760" cy="365760"/>
          </a:xfrm>
          <a:prstGeom prst="rect">
            <a:avLst/>
          </a:prstGeom>
          <a:noFill/>
          <a:ln/>
        </p:spPr>
        <p:txBody>
          <a:bodyPr wrap="square" rtlCol="0" anchor="ctr"/>
          <a:lstStyle/>
          <a:p>
            <a:pPr marL="0" indent="0">
              <a:buNone/>
            </a:pPr>
            <a:r>
              <a:rPr lang="en-US" sz="1500" b="1" dirty="0">
                <a:solidFill>
                  <a:srgbClr val="185FA5"/>
                </a:solidFill>
                <a:latin typeface="Cambria" pitchFamily="34" charset="0"/>
                <a:ea typeface="Cambria" pitchFamily="34" charset="-122"/>
                <a:cs typeface="Cambria" pitchFamily="34" charset="-120"/>
              </a:rPr>
              <a:t>6 Dimensions</a:t>
            </a:r>
            <a:endParaRPr lang="en-US" sz="1500" dirty="0"/>
          </a:p>
        </p:txBody>
      </p:sp>
      <p:sp>
        <p:nvSpPr>
          <p:cNvPr id="7" name="Text 4"/>
          <p:cNvSpPr/>
          <p:nvPr/>
        </p:nvSpPr>
        <p:spPr>
          <a:xfrm>
            <a:off x="548640" y="1554480"/>
            <a:ext cx="2651760" cy="3749040"/>
          </a:xfrm>
          <a:prstGeom prst="rect">
            <a:avLst/>
          </a:prstGeom>
          <a:noFill/>
          <a:ln/>
        </p:spPr>
        <p:txBody>
          <a:bodyPr wrap="square" rtlCol="0" anchor="ctr"/>
          <a:lstStyle/>
          <a:p>
            <a:pPr marL="171450" lvl="0" indent="-171450">
              <a:buFont typeface="Arial" panose="020B0604020202020204" pitchFamily="34" charset="0"/>
              <a:buChar char="•"/>
            </a:pPr>
            <a:r>
              <a:rPr lang="fr-MA" sz="1100" b="1" dirty="0" err="1">
                <a:solidFill>
                  <a:srgbClr val="333333"/>
                </a:solidFill>
                <a:latin typeface="Calibri" pitchFamily="34" charset="0"/>
                <a:ea typeface="Calibri" pitchFamily="34" charset="-122"/>
                <a:cs typeface="Calibri" pitchFamily="34" charset="-120"/>
              </a:rPr>
              <a:t>DIM_Date</a:t>
            </a:r>
            <a:r>
              <a:rPr lang="fr-MA" sz="1100" b="1" dirty="0">
                <a:solidFill>
                  <a:srgbClr val="333333"/>
                </a:solidFill>
                <a:latin typeface="Calibri" pitchFamily="34" charset="0"/>
                <a:ea typeface="Calibri" pitchFamily="34" charset="-122"/>
                <a:cs typeface="Calibri" pitchFamily="34" charset="-120"/>
              </a:rPr>
              <a:t> </a:t>
            </a:r>
            <a:r>
              <a:rPr lang="fr-MA" sz="1100" dirty="0">
                <a:solidFill>
                  <a:srgbClr val="333333"/>
                </a:solidFill>
                <a:latin typeface="Calibri" pitchFamily="34" charset="0"/>
                <a:ea typeface="Calibri" pitchFamily="34" charset="-122"/>
                <a:cs typeface="Calibri" pitchFamily="34" charset="-120"/>
              </a:rPr>
              <a:t>: dimension temporelle </a:t>
            </a:r>
          </a:p>
          <a:p>
            <a:pPr lvl="0"/>
            <a:endParaRPr lang="fr-MA" sz="1100" dirty="0">
              <a:solidFill>
                <a:srgbClr val="333333"/>
              </a:solidFill>
              <a:latin typeface="Calibri" pitchFamily="34" charset="0"/>
              <a:ea typeface="Calibri" pitchFamily="34" charset="-122"/>
              <a:cs typeface="Calibri" pitchFamily="34" charset="-120"/>
            </a:endParaRPr>
          </a:p>
          <a:p>
            <a:pPr marL="171450" lvl="0" indent="-171450">
              <a:buFont typeface="Arial" panose="020B0604020202020204" pitchFamily="34" charset="0"/>
              <a:buChar char="•"/>
            </a:pPr>
            <a:r>
              <a:rPr lang="fr-MA" sz="1100" b="1" dirty="0" err="1">
                <a:solidFill>
                  <a:srgbClr val="333333"/>
                </a:solidFill>
                <a:latin typeface="Calibri" pitchFamily="34" charset="0"/>
                <a:ea typeface="Calibri" pitchFamily="34" charset="-122"/>
                <a:cs typeface="Calibri" pitchFamily="34" charset="-120"/>
              </a:rPr>
              <a:t>DIM_Centre</a:t>
            </a:r>
            <a:r>
              <a:rPr lang="fr-MA" sz="1100" b="1" dirty="0">
                <a:solidFill>
                  <a:srgbClr val="333333"/>
                </a:solidFill>
                <a:latin typeface="Calibri" pitchFamily="34" charset="0"/>
                <a:ea typeface="Calibri" pitchFamily="34" charset="-122"/>
                <a:cs typeface="Calibri" pitchFamily="34" charset="-120"/>
              </a:rPr>
              <a:t> </a:t>
            </a:r>
            <a:r>
              <a:rPr lang="fr-MA" sz="1100" dirty="0">
                <a:solidFill>
                  <a:srgbClr val="333333"/>
                </a:solidFill>
                <a:latin typeface="Calibri" pitchFamily="34" charset="0"/>
                <a:ea typeface="Calibri" pitchFamily="34" charset="-122"/>
                <a:cs typeface="Calibri" pitchFamily="34" charset="-120"/>
              </a:rPr>
              <a:t>: centres hospitaliers </a:t>
            </a:r>
          </a:p>
          <a:p>
            <a:pPr lvl="0"/>
            <a:endParaRPr lang="fr-MA" sz="1100" dirty="0">
              <a:solidFill>
                <a:srgbClr val="333333"/>
              </a:solidFill>
              <a:latin typeface="Calibri" pitchFamily="34" charset="0"/>
              <a:ea typeface="Calibri" pitchFamily="34" charset="-122"/>
              <a:cs typeface="Calibri" pitchFamily="34" charset="-120"/>
            </a:endParaRPr>
          </a:p>
          <a:p>
            <a:pPr marL="171450" lvl="0" indent="-171450">
              <a:buFont typeface="Arial" panose="020B0604020202020204" pitchFamily="34" charset="0"/>
              <a:buChar char="•"/>
            </a:pPr>
            <a:r>
              <a:rPr lang="fr-MA" sz="1100" b="1" dirty="0" err="1">
                <a:solidFill>
                  <a:srgbClr val="333333"/>
                </a:solidFill>
                <a:latin typeface="Calibri" pitchFamily="34" charset="0"/>
                <a:ea typeface="Calibri" pitchFamily="34" charset="-122"/>
                <a:cs typeface="Calibri" pitchFamily="34" charset="-120"/>
              </a:rPr>
              <a:t>DIM_Service</a:t>
            </a:r>
            <a:r>
              <a:rPr lang="fr-MA" sz="1100" b="1" dirty="0">
                <a:solidFill>
                  <a:srgbClr val="333333"/>
                </a:solidFill>
                <a:latin typeface="Calibri" pitchFamily="34" charset="0"/>
                <a:ea typeface="Calibri" pitchFamily="34" charset="-122"/>
                <a:cs typeface="Calibri" pitchFamily="34" charset="-120"/>
              </a:rPr>
              <a:t> </a:t>
            </a:r>
            <a:r>
              <a:rPr lang="fr-MA" sz="1100" dirty="0">
                <a:solidFill>
                  <a:srgbClr val="333333"/>
                </a:solidFill>
                <a:latin typeface="Calibri" pitchFamily="34" charset="0"/>
                <a:ea typeface="Calibri" pitchFamily="34" charset="-122"/>
                <a:cs typeface="Calibri" pitchFamily="34" charset="-120"/>
              </a:rPr>
              <a:t>: services cliniques </a:t>
            </a:r>
          </a:p>
          <a:p>
            <a:pPr lvl="0"/>
            <a:endParaRPr lang="fr-MA" sz="1100" dirty="0">
              <a:solidFill>
                <a:srgbClr val="333333"/>
              </a:solidFill>
              <a:latin typeface="Calibri" pitchFamily="34" charset="0"/>
              <a:ea typeface="Calibri" pitchFamily="34" charset="-122"/>
              <a:cs typeface="Calibri" pitchFamily="34" charset="-120"/>
            </a:endParaRPr>
          </a:p>
          <a:p>
            <a:pPr marL="171450" lvl="0" indent="-171450">
              <a:buFont typeface="Arial" panose="020B0604020202020204" pitchFamily="34" charset="0"/>
              <a:buChar char="•"/>
            </a:pPr>
            <a:r>
              <a:rPr lang="fr-MA" sz="1100" b="1" dirty="0" err="1">
                <a:solidFill>
                  <a:srgbClr val="333333"/>
                </a:solidFill>
                <a:latin typeface="Calibri" pitchFamily="34" charset="0"/>
                <a:ea typeface="Calibri" pitchFamily="34" charset="-122"/>
                <a:cs typeface="Calibri" pitchFamily="34" charset="-120"/>
              </a:rPr>
              <a:t>DIM_Medecin</a:t>
            </a:r>
            <a:r>
              <a:rPr lang="fr-MA" sz="1100" b="1" dirty="0">
                <a:solidFill>
                  <a:srgbClr val="333333"/>
                </a:solidFill>
                <a:latin typeface="Calibri" pitchFamily="34" charset="0"/>
                <a:ea typeface="Calibri" pitchFamily="34" charset="-122"/>
                <a:cs typeface="Calibri" pitchFamily="34" charset="-120"/>
              </a:rPr>
              <a:t> </a:t>
            </a:r>
            <a:r>
              <a:rPr lang="fr-MA" sz="1100" dirty="0">
                <a:solidFill>
                  <a:srgbClr val="333333"/>
                </a:solidFill>
                <a:latin typeface="Calibri" pitchFamily="34" charset="0"/>
                <a:ea typeface="Calibri" pitchFamily="34" charset="-122"/>
                <a:cs typeface="Calibri" pitchFamily="34" charset="-120"/>
              </a:rPr>
              <a:t>: médecins </a:t>
            </a:r>
          </a:p>
          <a:p>
            <a:pPr lvl="0"/>
            <a:endParaRPr lang="fr-MA" sz="1100" dirty="0">
              <a:solidFill>
                <a:srgbClr val="333333"/>
              </a:solidFill>
              <a:latin typeface="Calibri" pitchFamily="34" charset="0"/>
              <a:ea typeface="Calibri" pitchFamily="34" charset="-122"/>
              <a:cs typeface="Calibri" pitchFamily="34" charset="-120"/>
            </a:endParaRPr>
          </a:p>
          <a:p>
            <a:pPr marL="171450" lvl="0" indent="-171450">
              <a:buFont typeface="Arial" panose="020B0604020202020204" pitchFamily="34" charset="0"/>
              <a:buChar char="•"/>
            </a:pPr>
            <a:r>
              <a:rPr lang="fr-MA" sz="1100" b="1" dirty="0" err="1">
                <a:solidFill>
                  <a:srgbClr val="333333"/>
                </a:solidFill>
                <a:latin typeface="Calibri" pitchFamily="34" charset="0"/>
                <a:ea typeface="Calibri" pitchFamily="34" charset="-122"/>
                <a:cs typeface="Calibri" pitchFamily="34" charset="-120"/>
              </a:rPr>
              <a:t>DIM_Chambre</a:t>
            </a:r>
            <a:r>
              <a:rPr lang="fr-MA" sz="1100" b="1" dirty="0">
                <a:solidFill>
                  <a:srgbClr val="333333"/>
                </a:solidFill>
                <a:latin typeface="Calibri" pitchFamily="34" charset="0"/>
                <a:ea typeface="Calibri" pitchFamily="34" charset="-122"/>
                <a:cs typeface="Calibri" pitchFamily="34" charset="-120"/>
              </a:rPr>
              <a:t> </a:t>
            </a:r>
            <a:r>
              <a:rPr lang="fr-MA" sz="1100" dirty="0">
                <a:solidFill>
                  <a:srgbClr val="333333"/>
                </a:solidFill>
                <a:latin typeface="Calibri" pitchFamily="34" charset="0"/>
                <a:ea typeface="Calibri" pitchFamily="34" charset="-122"/>
                <a:cs typeface="Calibri" pitchFamily="34" charset="-120"/>
              </a:rPr>
              <a:t>: chambres et lits </a:t>
            </a:r>
          </a:p>
          <a:p>
            <a:pPr lvl="0"/>
            <a:endParaRPr lang="fr-MA" sz="1100" dirty="0">
              <a:solidFill>
                <a:srgbClr val="333333"/>
              </a:solidFill>
              <a:latin typeface="Calibri" pitchFamily="34" charset="0"/>
              <a:ea typeface="Calibri" pitchFamily="34" charset="-122"/>
              <a:cs typeface="Calibri" pitchFamily="34" charset="-120"/>
            </a:endParaRPr>
          </a:p>
          <a:p>
            <a:pPr marL="171450" lvl="0" indent="-171450">
              <a:buFont typeface="Arial" panose="020B0604020202020204" pitchFamily="34" charset="0"/>
              <a:buChar char="•"/>
            </a:pPr>
            <a:r>
              <a:rPr lang="fr-MA" sz="1100" b="1" dirty="0" err="1">
                <a:solidFill>
                  <a:srgbClr val="333333"/>
                </a:solidFill>
                <a:latin typeface="Calibri" pitchFamily="34" charset="0"/>
                <a:ea typeface="Calibri" pitchFamily="34" charset="-122"/>
                <a:cs typeface="Calibri" pitchFamily="34" charset="-120"/>
              </a:rPr>
              <a:t>DIM_Patient</a:t>
            </a:r>
            <a:r>
              <a:rPr lang="fr-MA" sz="1100" b="1" dirty="0">
                <a:solidFill>
                  <a:srgbClr val="333333"/>
                </a:solidFill>
                <a:latin typeface="Calibri" pitchFamily="34" charset="0"/>
                <a:ea typeface="Calibri" pitchFamily="34" charset="-122"/>
                <a:cs typeface="Calibri" pitchFamily="34" charset="-120"/>
              </a:rPr>
              <a:t> </a:t>
            </a:r>
            <a:r>
              <a:rPr lang="fr-MA" sz="1100" dirty="0">
                <a:solidFill>
                  <a:srgbClr val="333333"/>
                </a:solidFill>
                <a:latin typeface="Calibri" pitchFamily="34" charset="0"/>
                <a:ea typeface="Calibri" pitchFamily="34" charset="-122"/>
                <a:cs typeface="Calibri" pitchFamily="34" charset="-120"/>
              </a:rPr>
              <a:t>: informations patients</a:t>
            </a:r>
          </a:p>
        </p:txBody>
      </p:sp>
      <p:sp>
        <p:nvSpPr>
          <p:cNvPr id="8" name="Text 5"/>
          <p:cNvSpPr/>
          <p:nvPr/>
        </p:nvSpPr>
        <p:spPr>
          <a:xfrm>
            <a:off x="457200" y="6519672"/>
            <a:ext cx="5486400" cy="256032"/>
          </a:xfrm>
          <a:prstGeom prst="rect">
            <a:avLst/>
          </a:prstGeom>
          <a:noFill/>
          <a:ln/>
        </p:spPr>
        <p:txBody>
          <a:bodyPr wrap="square" rtlCol="0" anchor="ctr"/>
          <a:lstStyle/>
          <a:p>
            <a:pPr marL="0" indent="0">
              <a:buNone/>
            </a:pPr>
            <a:r>
              <a:rPr lang="en-US" sz="1000" dirty="0">
                <a:solidFill>
                  <a:srgbClr val="5F5E5A"/>
                </a:solidFill>
                <a:latin typeface="Calibri" pitchFamily="34" charset="0"/>
                <a:ea typeface="Calibri" pitchFamily="34" charset="-122"/>
                <a:cs typeface="Calibri" pitchFamily="34" charset="-120"/>
              </a:rPr>
              <a:t>2. Modélisation</a:t>
            </a:r>
            <a:endParaRPr lang="en-US" sz="1000" dirty="0"/>
          </a:p>
        </p:txBody>
      </p:sp>
      <p:sp>
        <p:nvSpPr>
          <p:cNvPr id="9" name="Text 6"/>
          <p:cNvSpPr/>
          <p:nvPr/>
        </p:nvSpPr>
        <p:spPr>
          <a:xfrm>
            <a:off x="6675120" y="6519672"/>
            <a:ext cx="5029200" cy="256032"/>
          </a:xfrm>
          <a:prstGeom prst="rect">
            <a:avLst/>
          </a:prstGeom>
          <a:noFill/>
          <a:ln/>
        </p:spPr>
        <p:txBody>
          <a:bodyPr wrap="square" rtlCol="0" anchor="ctr"/>
          <a:lstStyle/>
          <a:p>
            <a:pPr marL="0" indent="0" algn="r">
              <a:buNone/>
            </a:pPr>
            <a:r>
              <a:rPr lang="en-US" sz="1000" dirty="0">
                <a:solidFill>
                  <a:srgbClr val="5F5E5A"/>
                </a:solidFill>
                <a:latin typeface="Calibri" pitchFamily="34" charset="0"/>
                <a:ea typeface="Calibri" pitchFamily="34" charset="-122"/>
                <a:cs typeface="Calibri" pitchFamily="34" charset="-120"/>
              </a:rPr>
              <a:t>CHU Ibn Sina — Plateforme BI Hospitalisation</a:t>
            </a:r>
            <a:endParaRPr lang="en-US" sz="1000" dirty="0"/>
          </a:p>
        </p:txBody>
      </p:sp>
      <p:sp>
        <p:nvSpPr>
          <p:cNvPr id="10" name="ZoneTexte 9">
            <a:extLst>
              <a:ext uri="{FF2B5EF4-FFF2-40B4-BE49-F238E27FC236}">
                <a16:creationId xmlns:a16="http://schemas.microsoft.com/office/drawing/2014/main" id="{FC1608C5-CB05-CE6A-108C-F6920B4C3BEF}"/>
              </a:ext>
            </a:extLst>
          </p:cNvPr>
          <p:cNvSpPr txBox="1"/>
          <p:nvPr/>
        </p:nvSpPr>
        <p:spPr>
          <a:xfrm flipH="1">
            <a:off x="4238569" y="5092834"/>
            <a:ext cx="7079670" cy="523220"/>
          </a:xfrm>
          <a:prstGeom prst="rect">
            <a:avLst/>
          </a:prstGeom>
          <a:noFill/>
        </p:spPr>
        <p:txBody>
          <a:bodyPr wrap="square" rtlCol="0">
            <a:spAutoFit/>
          </a:bodyPr>
          <a:lstStyle/>
          <a:p>
            <a:r>
              <a:rPr lang="fr-MA" sz="1400" b="1" dirty="0">
                <a:latin typeface="Calibri "/>
              </a:rPr>
              <a:t>Le schéma en étoile est composé d'une table de faits centrale reliée à six dimensions permettant l'analyse multidimensionnelle des hospitalisations.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pPr marL="0" indent="0">
              <a:buNone/>
            </a:pPr>
            <a:r>
              <a:rPr lang="en-US" sz="2800" b="1" dirty="0">
                <a:solidFill>
                  <a:srgbClr val="185FA5"/>
                </a:solidFill>
                <a:latin typeface="Cambria" pitchFamily="34" charset="0"/>
                <a:ea typeface="Cambria" pitchFamily="34" charset="-122"/>
                <a:cs typeface="Cambria" pitchFamily="34" charset="-120"/>
              </a:rPr>
              <a:t>Chargement des Données</a:t>
            </a:r>
            <a:endParaRPr lang="en-US" sz="2800" dirty="0"/>
          </a:p>
        </p:txBody>
      </p:sp>
      <p:sp>
        <p:nvSpPr>
          <p:cNvPr id="3" name="Text 1"/>
          <p:cNvSpPr/>
          <p:nvPr/>
        </p:nvSpPr>
        <p:spPr>
          <a:xfrm>
            <a:off x="548640" y="896112"/>
            <a:ext cx="11064240" cy="347472"/>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Confidentialité des données réelles → extraits CSV synthétiques</a:t>
            </a:r>
            <a:endParaRPr lang="en-US" sz="1300" dirty="0"/>
          </a:p>
        </p:txBody>
      </p:sp>
      <p:sp>
        <p:nvSpPr>
          <p:cNvPr id="4" name="Shape 2"/>
          <p:cNvSpPr/>
          <p:nvPr/>
        </p:nvSpPr>
        <p:spPr>
          <a:xfrm>
            <a:off x="563880" y="1316736"/>
            <a:ext cx="11491686" cy="867664"/>
          </a:xfrm>
          <a:prstGeom prst="rect">
            <a:avLst/>
          </a:prstGeom>
          <a:solidFill>
            <a:srgbClr val="0E2A45"/>
          </a:solidFill>
          <a:ln/>
        </p:spPr>
        <p:txBody>
          <a:bodyPr/>
          <a:lstStyle/>
          <a:p>
            <a:endParaRPr lang="fr-FR"/>
          </a:p>
        </p:txBody>
      </p:sp>
      <p:sp>
        <p:nvSpPr>
          <p:cNvPr id="5" name="Text 3"/>
          <p:cNvSpPr/>
          <p:nvPr/>
        </p:nvSpPr>
        <p:spPr>
          <a:xfrm>
            <a:off x="685800" y="1230376"/>
            <a:ext cx="10515600" cy="1143000"/>
          </a:xfrm>
          <a:prstGeom prst="rect">
            <a:avLst/>
          </a:prstGeom>
          <a:noFill/>
          <a:ln/>
        </p:spPr>
        <p:txBody>
          <a:bodyPr wrap="square" rtlCol="0" anchor="ctr"/>
          <a:lstStyle/>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Les données réelles d'hospitalisation du CHU sont confidentielles (données de santé). Ce projet utilise donc un jeu de données synthétique généré spécifiquement, reproduisant fidèlement la structure et l'échelle des données réelles, importé via des extraits CSV dans SQL Server Management Studio.</a:t>
            </a:r>
            <a:endParaRPr lang="en-US" sz="1350" dirty="0"/>
          </a:p>
        </p:txBody>
      </p:sp>
      <p:pic>
        <p:nvPicPr>
          <p:cNvPr id="6" name="Image 0" descr="/home/claude/hospit/real_screens/ssms_01_tables_importees.png"/>
          <p:cNvPicPr>
            <a:picLocks noChangeAspect="1"/>
          </p:cNvPicPr>
          <p:nvPr/>
        </p:nvPicPr>
        <p:blipFill>
          <a:blip r:embed="rId3"/>
          <a:stretch>
            <a:fillRect/>
          </a:stretch>
        </p:blipFill>
        <p:spPr>
          <a:xfrm>
            <a:off x="822960" y="2291080"/>
            <a:ext cx="4429760" cy="3063240"/>
          </a:xfrm>
          <a:prstGeom prst="rect">
            <a:avLst/>
          </a:prstGeom>
        </p:spPr>
      </p:pic>
      <p:sp>
        <p:nvSpPr>
          <p:cNvPr id="7" name="Text 4"/>
          <p:cNvSpPr/>
          <p:nvPr/>
        </p:nvSpPr>
        <p:spPr>
          <a:xfrm>
            <a:off x="157480" y="5541264"/>
            <a:ext cx="5760720" cy="292608"/>
          </a:xfrm>
          <a:prstGeom prst="rect">
            <a:avLst/>
          </a:prstGeom>
          <a:noFill/>
          <a:ln/>
        </p:spPr>
        <p:txBody>
          <a:bodyPr wrap="square" rtlCol="0" anchor="ctr"/>
          <a:lstStyle/>
          <a:p>
            <a:pPr marL="0" indent="0" algn="ctr">
              <a:buNone/>
            </a:pPr>
            <a:r>
              <a:rPr lang="en-US" sz="1050" i="1" dirty="0">
                <a:solidFill>
                  <a:srgbClr val="5F5E5A"/>
                </a:solidFill>
                <a:latin typeface="Calibri" pitchFamily="34" charset="0"/>
                <a:ea typeface="Calibri" pitchFamily="34" charset="-122"/>
                <a:cs typeface="Calibri" pitchFamily="34" charset="-120"/>
              </a:rPr>
              <a:t>Structure complète de la base HospitalDWH et contrôle des données importées (SSMS)</a:t>
            </a:r>
            <a:endParaRPr lang="en-US" sz="1050" dirty="0"/>
          </a:p>
        </p:txBody>
      </p:sp>
      <p:sp>
        <p:nvSpPr>
          <p:cNvPr id="8" name="Text 5"/>
          <p:cNvSpPr/>
          <p:nvPr/>
        </p:nvSpPr>
        <p:spPr>
          <a:xfrm>
            <a:off x="457200" y="6519672"/>
            <a:ext cx="5486400" cy="256032"/>
          </a:xfrm>
          <a:prstGeom prst="rect">
            <a:avLst/>
          </a:prstGeom>
          <a:noFill/>
          <a:ln/>
        </p:spPr>
        <p:txBody>
          <a:bodyPr wrap="square" rtlCol="0" anchor="ctr"/>
          <a:lstStyle/>
          <a:p>
            <a:pPr marL="0" indent="0">
              <a:buNone/>
            </a:pPr>
            <a:r>
              <a:rPr lang="en-US" sz="1000" dirty="0">
                <a:solidFill>
                  <a:srgbClr val="5F5E5A"/>
                </a:solidFill>
                <a:latin typeface="Calibri" pitchFamily="34" charset="0"/>
                <a:ea typeface="Calibri" pitchFamily="34" charset="-122"/>
                <a:cs typeface="Calibri" pitchFamily="34" charset="-120"/>
              </a:rPr>
              <a:t>3. Chargement CSV</a:t>
            </a:r>
            <a:endParaRPr lang="en-US" sz="1000" dirty="0"/>
          </a:p>
        </p:txBody>
      </p:sp>
      <p:sp>
        <p:nvSpPr>
          <p:cNvPr id="9" name="Text 6"/>
          <p:cNvSpPr/>
          <p:nvPr/>
        </p:nvSpPr>
        <p:spPr>
          <a:xfrm>
            <a:off x="6675120" y="6519672"/>
            <a:ext cx="5029200" cy="256032"/>
          </a:xfrm>
          <a:prstGeom prst="rect">
            <a:avLst/>
          </a:prstGeom>
          <a:noFill/>
          <a:ln/>
        </p:spPr>
        <p:txBody>
          <a:bodyPr wrap="square" rtlCol="0" anchor="ctr"/>
          <a:lstStyle/>
          <a:p>
            <a:pPr marL="0" indent="0" algn="r">
              <a:buNone/>
            </a:pPr>
            <a:r>
              <a:rPr lang="en-US" sz="1000" dirty="0">
                <a:solidFill>
                  <a:srgbClr val="5F5E5A"/>
                </a:solidFill>
                <a:latin typeface="Calibri" pitchFamily="34" charset="0"/>
                <a:ea typeface="Calibri" pitchFamily="34" charset="-122"/>
                <a:cs typeface="Calibri" pitchFamily="34" charset="-120"/>
              </a:rPr>
              <a:t>CHU Ibn Sina — Plateforme BI Hospitalisation</a:t>
            </a:r>
            <a:endParaRPr lang="en-US" sz="1000" dirty="0"/>
          </a:p>
        </p:txBody>
      </p:sp>
      <p:pic>
        <p:nvPicPr>
          <p:cNvPr id="11" name="Image 0" descr="/home/claude/hospit/fig_sql_gold.png">
            <a:extLst>
              <a:ext uri="{FF2B5EF4-FFF2-40B4-BE49-F238E27FC236}">
                <a16:creationId xmlns:a16="http://schemas.microsoft.com/office/drawing/2014/main" id="{BF0BE42D-C0A5-413B-42FA-6248AB93A80F}"/>
              </a:ext>
            </a:extLst>
          </p:cNvPr>
          <p:cNvPicPr>
            <a:picLocks noChangeAspect="1"/>
          </p:cNvPicPr>
          <p:nvPr/>
        </p:nvPicPr>
        <p:blipFill>
          <a:blip r:embed="rId4"/>
          <a:stretch>
            <a:fillRect/>
          </a:stretch>
        </p:blipFill>
        <p:spPr>
          <a:xfrm>
            <a:off x="5729515" y="2257552"/>
            <a:ext cx="6326051" cy="3671824"/>
          </a:xfrm>
          <a:prstGeom prst="rect">
            <a:avLst/>
          </a:prstGeom>
        </p:spPr>
      </p:pic>
      <p:sp>
        <p:nvSpPr>
          <p:cNvPr id="13" name="Text 4">
            <a:extLst>
              <a:ext uri="{FF2B5EF4-FFF2-40B4-BE49-F238E27FC236}">
                <a16:creationId xmlns:a16="http://schemas.microsoft.com/office/drawing/2014/main" id="{84BBE428-BBCE-ABBE-9CE1-CDE36043B932}"/>
              </a:ext>
            </a:extLst>
          </p:cNvPr>
          <p:cNvSpPr/>
          <p:nvPr/>
        </p:nvSpPr>
        <p:spPr>
          <a:xfrm>
            <a:off x="6012180" y="6118352"/>
            <a:ext cx="5760720" cy="292608"/>
          </a:xfrm>
          <a:prstGeom prst="rect">
            <a:avLst/>
          </a:prstGeom>
          <a:noFill/>
          <a:ln/>
        </p:spPr>
        <p:txBody>
          <a:bodyPr wrap="square" rtlCol="0" anchor="ctr"/>
          <a:lstStyle/>
          <a:p>
            <a:pPr algn="ctr"/>
            <a:r>
              <a:rPr lang="en-US" sz="1050" i="1" dirty="0" err="1">
                <a:solidFill>
                  <a:srgbClr val="5F5E5A"/>
                </a:solidFill>
                <a:latin typeface="Calibri" pitchFamily="34" charset="0"/>
                <a:ea typeface="Calibri" pitchFamily="34" charset="-122"/>
                <a:cs typeface="Calibri" pitchFamily="34" charset="-120"/>
              </a:rPr>
              <a:t>Création</a:t>
            </a:r>
            <a:r>
              <a:rPr lang="en-US" sz="1050" i="1" dirty="0">
                <a:solidFill>
                  <a:srgbClr val="5F5E5A"/>
                </a:solidFill>
                <a:latin typeface="Calibri" pitchFamily="34" charset="0"/>
                <a:ea typeface="Calibri" pitchFamily="34" charset="-122"/>
                <a:cs typeface="Calibri" pitchFamily="34" charset="-120"/>
              </a:rPr>
              <a:t> du Data Warehouse -- Script SQL Server — table de faits </a:t>
            </a:r>
            <a:r>
              <a:rPr lang="en-US" sz="1050" i="1" dirty="0" err="1">
                <a:solidFill>
                  <a:srgbClr val="5F5E5A"/>
                </a:solidFill>
                <a:latin typeface="Calibri" pitchFamily="34" charset="0"/>
                <a:ea typeface="Calibri" pitchFamily="34" charset="-122"/>
                <a:cs typeface="Calibri" pitchFamily="34" charset="-120"/>
              </a:rPr>
              <a:t>Gold.FACT_Hospitalisations</a:t>
            </a:r>
            <a:endParaRPr lang="en-US" sz="1050" dirty="0"/>
          </a:p>
          <a:p>
            <a:pPr algn="ctr"/>
            <a:endParaRPr lang="en-US" sz="1050" i="1" dirty="0">
              <a:solidFill>
                <a:srgbClr val="5F5E5A"/>
              </a:solidFill>
              <a:latin typeface="Calibri" pitchFamily="34" charset="0"/>
              <a:ea typeface="Calibri" pitchFamily="34" charset="-122"/>
              <a:cs typeface="Calibri" pitchFamily="34" charset="-120"/>
            </a:endParaRPr>
          </a:p>
          <a:p>
            <a:pPr marL="0" indent="0" algn="ctr">
              <a:buNone/>
            </a:pP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pPr marL="0" indent="0">
              <a:buNone/>
            </a:pPr>
            <a:r>
              <a:rPr lang="en-US" sz="2800" b="1" dirty="0">
                <a:solidFill>
                  <a:srgbClr val="185FA5"/>
                </a:solidFill>
                <a:latin typeface="Cambria" pitchFamily="34" charset="0"/>
                <a:ea typeface="Cambria" pitchFamily="34" charset="-122"/>
                <a:cs typeface="Cambria" pitchFamily="34" charset="-120"/>
              </a:rPr>
              <a:t>ETL avec SSIS — Control Flow</a:t>
            </a:r>
            <a:endParaRPr lang="en-US" sz="2800" dirty="0"/>
          </a:p>
        </p:txBody>
      </p:sp>
      <p:sp>
        <p:nvSpPr>
          <p:cNvPr id="3" name="Text 1"/>
          <p:cNvSpPr/>
          <p:nvPr/>
        </p:nvSpPr>
        <p:spPr>
          <a:xfrm>
            <a:off x="548640" y="896112"/>
            <a:ext cx="11064240" cy="347472"/>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Orchestration : purge → 4 extractions Bronze en parallèle → Silver → Gold</a:t>
            </a:r>
            <a:endParaRPr lang="en-US" sz="1300" dirty="0"/>
          </a:p>
        </p:txBody>
      </p:sp>
      <p:pic>
        <p:nvPicPr>
          <p:cNvPr id="4" name="Image 0" descr="/home/claude/hospit/real_screens/ssis_01_controlflow.png"/>
          <p:cNvPicPr>
            <a:picLocks noChangeAspect="1"/>
          </p:cNvPicPr>
          <p:nvPr/>
        </p:nvPicPr>
        <p:blipFill>
          <a:blip r:embed="rId3"/>
          <a:stretch>
            <a:fillRect/>
          </a:stretch>
        </p:blipFill>
        <p:spPr>
          <a:xfrm>
            <a:off x="1097280" y="1655322"/>
            <a:ext cx="9966960" cy="4644636"/>
          </a:xfrm>
          <a:prstGeom prst="rect">
            <a:avLst/>
          </a:prstGeom>
        </p:spPr>
      </p:pic>
      <p:sp>
        <p:nvSpPr>
          <p:cNvPr id="5" name="Text 2"/>
          <p:cNvSpPr/>
          <p:nvPr/>
        </p:nvSpPr>
        <p:spPr>
          <a:xfrm>
            <a:off x="457200" y="6519672"/>
            <a:ext cx="5486400" cy="256032"/>
          </a:xfrm>
          <a:prstGeom prst="rect">
            <a:avLst/>
          </a:prstGeom>
          <a:noFill/>
          <a:ln/>
        </p:spPr>
        <p:txBody>
          <a:bodyPr wrap="square" rtlCol="0" anchor="ctr"/>
          <a:lstStyle/>
          <a:p>
            <a:pPr marL="0" indent="0">
              <a:buNone/>
            </a:pPr>
            <a:r>
              <a:rPr lang="en-US" sz="1000" dirty="0">
                <a:solidFill>
                  <a:srgbClr val="5F5E5A"/>
                </a:solidFill>
                <a:latin typeface="Calibri" pitchFamily="34" charset="0"/>
                <a:ea typeface="Calibri" pitchFamily="34" charset="-122"/>
                <a:cs typeface="Calibri" pitchFamily="34" charset="-120"/>
              </a:rPr>
              <a:t>4. ETL SSIS</a:t>
            </a:r>
            <a:endParaRPr lang="en-US" sz="1000" dirty="0"/>
          </a:p>
        </p:txBody>
      </p:sp>
      <p:sp>
        <p:nvSpPr>
          <p:cNvPr id="6" name="Text 3"/>
          <p:cNvSpPr/>
          <p:nvPr/>
        </p:nvSpPr>
        <p:spPr>
          <a:xfrm>
            <a:off x="6675120" y="6519672"/>
            <a:ext cx="5029200" cy="256032"/>
          </a:xfrm>
          <a:prstGeom prst="rect">
            <a:avLst/>
          </a:prstGeom>
          <a:noFill/>
          <a:ln/>
        </p:spPr>
        <p:txBody>
          <a:bodyPr wrap="square" rtlCol="0" anchor="ctr"/>
          <a:lstStyle/>
          <a:p>
            <a:pPr marL="0" indent="0" algn="r">
              <a:buNone/>
            </a:pPr>
            <a:r>
              <a:rPr lang="en-US" sz="1000" dirty="0">
                <a:solidFill>
                  <a:srgbClr val="5F5E5A"/>
                </a:solidFill>
                <a:latin typeface="Calibri" pitchFamily="34" charset="0"/>
                <a:ea typeface="Calibri" pitchFamily="34" charset="-122"/>
                <a:cs typeface="Calibri" pitchFamily="34" charset="-120"/>
              </a:rPr>
              <a:t>CHU Ibn Sina — Plateforme BI Hospitalisation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pPr marL="0" indent="0">
              <a:buNone/>
            </a:pPr>
            <a:r>
              <a:rPr lang="en-US" sz="2800" b="1" dirty="0">
                <a:solidFill>
                  <a:srgbClr val="185FA5"/>
                </a:solidFill>
                <a:latin typeface="Cambria" pitchFamily="34" charset="0"/>
                <a:ea typeface="Cambria" pitchFamily="34" charset="-122"/>
                <a:cs typeface="Cambria" pitchFamily="34" charset="-120"/>
              </a:rPr>
              <a:t>ETL avec SSIS — Transformation</a:t>
            </a:r>
            <a:endParaRPr lang="en-US" sz="2800" dirty="0"/>
          </a:p>
        </p:txBody>
      </p:sp>
      <p:sp>
        <p:nvSpPr>
          <p:cNvPr id="3" name="Text 1"/>
          <p:cNvSpPr/>
          <p:nvPr/>
        </p:nvSpPr>
        <p:spPr>
          <a:xfrm>
            <a:off x="548640" y="896112"/>
            <a:ext cx="11064240" cy="347472"/>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Composant Derived Column : calcul de la clé de date</a:t>
            </a:r>
            <a:endParaRPr lang="en-US" sz="1300" dirty="0"/>
          </a:p>
        </p:txBody>
      </p:sp>
      <p:pic>
        <p:nvPicPr>
          <p:cNvPr id="4" name="Image 0" descr="/home/claude/hospit/real_screens/ssis_03_derivedcolumn.png"/>
          <p:cNvPicPr>
            <a:picLocks noChangeAspect="1"/>
          </p:cNvPicPr>
          <p:nvPr/>
        </p:nvPicPr>
        <p:blipFill>
          <a:blip r:embed="rId3"/>
          <a:stretch>
            <a:fillRect/>
          </a:stretch>
        </p:blipFill>
        <p:spPr>
          <a:xfrm>
            <a:off x="2194560" y="1762019"/>
            <a:ext cx="7772400" cy="4431243"/>
          </a:xfrm>
          <a:prstGeom prst="rect">
            <a:avLst/>
          </a:prstGeom>
        </p:spPr>
      </p:pic>
      <p:sp>
        <p:nvSpPr>
          <p:cNvPr id="5" name="Text 2"/>
          <p:cNvSpPr/>
          <p:nvPr/>
        </p:nvSpPr>
        <p:spPr>
          <a:xfrm>
            <a:off x="457200" y="6519672"/>
            <a:ext cx="5486400" cy="256032"/>
          </a:xfrm>
          <a:prstGeom prst="rect">
            <a:avLst/>
          </a:prstGeom>
          <a:noFill/>
          <a:ln/>
        </p:spPr>
        <p:txBody>
          <a:bodyPr wrap="square" rtlCol="0" anchor="ctr"/>
          <a:lstStyle/>
          <a:p>
            <a:pPr marL="0" indent="0">
              <a:buNone/>
            </a:pPr>
            <a:r>
              <a:rPr lang="en-US" sz="1000" dirty="0">
                <a:solidFill>
                  <a:srgbClr val="5F5E5A"/>
                </a:solidFill>
                <a:latin typeface="Calibri" pitchFamily="34" charset="0"/>
                <a:ea typeface="Calibri" pitchFamily="34" charset="-122"/>
                <a:cs typeface="Calibri" pitchFamily="34" charset="-120"/>
              </a:rPr>
              <a:t>4. ETL SSIS</a:t>
            </a:r>
            <a:endParaRPr lang="en-US" sz="1000" dirty="0"/>
          </a:p>
        </p:txBody>
      </p:sp>
      <p:sp>
        <p:nvSpPr>
          <p:cNvPr id="6" name="Text 3"/>
          <p:cNvSpPr/>
          <p:nvPr/>
        </p:nvSpPr>
        <p:spPr>
          <a:xfrm>
            <a:off x="6675120" y="6519672"/>
            <a:ext cx="5029200" cy="256032"/>
          </a:xfrm>
          <a:prstGeom prst="rect">
            <a:avLst/>
          </a:prstGeom>
          <a:noFill/>
          <a:ln/>
        </p:spPr>
        <p:txBody>
          <a:bodyPr wrap="square" rtlCol="0" anchor="ctr"/>
          <a:lstStyle/>
          <a:p>
            <a:pPr marL="0" indent="0" algn="r">
              <a:buNone/>
            </a:pPr>
            <a:r>
              <a:rPr lang="en-US" sz="1000" dirty="0">
                <a:solidFill>
                  <a:srgbClr val="5F5E5A"/>
                </a:solidFill>
                <a:latin typeface="Calibri" pitchFamily="34" charset="0"/>
                <a:ea typeface="Calibri" pitchFamily="34" charset="-122"/>
                <a:cs typeface="Calibri" pitchFamily="34" charset="-120"/>
              </a:rPr>
              <a:t>CHU Ibn Sina — Plateforme BI Hospitalisation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pPr marL="0" indent="0">
              <a:buNone/>
            </a:pPr>
            <a:r>
              <a:rPr lang="en-US" sz="2800" b="1" dirty="0">
                <a:solidFill>
                  <a:srgbClr val="185FA5"/>
                </a:solidFill>
                <a:latin typeface="Cambria" pitchFamily="34" charset="0"/>
                <a:ea typeface="Cambria" pitchFamily="34" charset="-122"/>
                <a:cs typeface="Cambria" pitchFamily="34" charset="-120"/>
              </a:rPr>
              <a:t>Cube OLAP avec SSAS</a:t>
            </a:r>
            <a:endParaRPr lang="en-US" sz="2800" dirty="0"/>
          </a:p>
        </p:txBody>
      </p:sp>
      <p:sp>
        <p:nvSpPr>
          <p:cNvPr id="3" name="Text 1"/>
          <p:cNvSpPr/>
          <p:nvPr/>
        </p:nvSpPr>
        <p:spPr>
          <a:xfrm>
            <a:off x="548640" y="896112"/>
            <a:ext cx="11064240" cy="347472"/>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Vue de Source de Données (DSV) — 6 relations vers FACT_Hospitalisations</a:t>
            </a:r>
            <a:endParaRPr lang="en-US" sz="1300" dirty="0"/>
          </a:p>
        </p:txBody>
      </p:sp>
      <p:pic>
        <p:nvPicPr>
          <p:cNvPr id="4" name="Image 0" descr="/home/claude/hospit/real_screens/ssas_01_dsv.png"/>
          <p:cNvPicPr>
            <a:picLocks noChangeAspect="1"/>
          </p:cNvPicPr>
          <p:nvPr/>
        </p:nvPicPr>
        <p:blipFill>
          <a:blip r:embed="rId3"/>
          <a:stretch>
            <a:fillRect/>
          </a:stretch>
        </p:blipFill>
        <p:spPr>
          <a:xfrm>
            <a:off x="1518645" y="1600200"/>
            <a:ext cx="9124229" cy="4754880"/>
          </a:xfrm>
          <a:prstGeom prst="rect">
            <a:avLst/>
          </a:prstGeom>
        </p:spPr>
      </p:pic>
      <p:sp>
        <p:nvSpPr>
          <p:cNvPr id="5" name="Text 2"/>
          <p:cNvSpPr/>
          <p:nvPr/>
        </p:nvSpPr>
        <p:spPr>
          <a:xfrm>
            <a:off x="457200" y="6519672"/>
            <a:ext cx="5486400" cy="256032"/>
          </a:xfrm>
          <a:prstGeom prst="rect">
            <a:avLst/>
          </a:prstGeom>
          <a:noFill/>
          <a:ln/>
        </p:spPr>
        <p:txBody>
          <a:bodyPr wrap="square" rtlCol="0" anchor="ctr"/>
          <a:lstStyle/>
          <a:p>
            <a:pPr marL="0" indent="0">
              <a:buNone/>
            </a:pPr>
            <a:r>
              <a:rPr lang="en-US" sz="1000" dirty="0">
                <a:solidFill>
                  <a:srgbClr val="5F5E5A"/>
                </a:solidFill>
                <a:latin typeface="Calibri" pitchFamily="34" charset="0"/>
                <a:ea typeface="Calibri" pitchFamily="34" charset="-122"/>
                <a:cs typeface="Calibri" pitchFamily="34" charset="-120"/>
              </a:rPr>
              <a:t>6. Cube SSAS</a:t>
            </a:r>
            <a:endParaRPr lang="en-US" sz="1000" dirty="0"/>
          </a:p>
        </p:txBody>
      </p:sp>
      <p:sp>
        <p:nvSpPr>
          <p:cNvPr id="6" name="Text 3"/>
          <p:cNvSpPr/>
          <p:nvPr/>
        </p:nvSpPr>
        <p:spPr>
          <a:xfrm>
            <a:off x="6675120" y="6519672"/>
            <a:ext cx="5029200" cy="256032"/>
          </a:xfrm>
          <a:prstGeom prst="rect">
            <a:avLst/>
          </a:prstGeom>
          <a:noFill/>
          <a:ln/>
        </p:spPr>
        <p:txBody>
          <a:bodyPr wrap="square" rtlCol="0" anchor="ctr"/>
          <a:lstStyle/>
          <a:p>
            <a:pPr marL="0" indent="0" algn="r">
              <a:buNone/>
            </a:pPr>
            <a:r>
              <a:rPr lang="en-US" sz="1000" dirty="0">
                <a:solidFill>
                  <a:srgbClr val="5F5E5A"/>
                </a:solidFill>
                <a:latin typeface="Calibri" pitchFamily="34" charset="0"/>
                <a:ea typeface="Calibri" pitchFamily="34" charset="-122"/>
                <a:cs typeface="Calibri" pitchFamily="34" charset="-120"/>
              </a:rPr>
              <a:t>CHU Ibn Sina — Plateforme BI Hospitalisation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r>
              <a:rPr lang="en-US" sz="2800" b="1" dirty="0">
                <a:solidFill>
                  <a:srgbClr val="185FA5"/>
                </a:solidFill>
                <a:latin typeface="Cambria" pitchFamily="34" charset="0"/>
                <a:ea typeface="Cambria" pitchFamily="34" charset="-122"/>
                <a:cs typeface="Cambria" pitchFamily="34" charset="-120"/>
              </a:rPr>
              <a:t>Cube OLAP avec SSAS </a:t>
            </a:r>
            <a:r>
              <a:rPr lang="fr-MA" sz="2800" b="1" dirty="0">
                <a:solidFill>
                  <a:srgbClr val="185FA5"/>
                </a:solidFill>
                <a:latin typeface="Cambria" pitchFamily="34" charset="0"/>
                <a:ea typeface="Cambria" pitchFamily="34" charset="-122"/>
              </a:rPr>
              <a:t>– Data Source </a:t>
            </a:r>
            <a:r>
              <a:rPr lang="fr-MA" sz="2800" b="1" dirty="0" err="1">
                <a:solidFill>
                  <a:srgbClr val="185FA5"/>
                </a:solidFill>
                <a:latin typeface="Cambria" pitchFamily="34" charset="0"/>
                <a:ea typeface="Cambria" pitchFamily="34" charset="-122"/>
              </a:rPr>
              <a:t>View</a:t>
            </a:r>
            <a:r>
              <a:rPr lang="fr-MA" sz="2800" b="1" dirty="0">
                <a:solidFill>
                  <a:srgbClr val="185FA5"/>
                </a:solidFill>
                <a:latin typeface="Cambria" pitchFamily="34" charset="0"/>
                <a:ea typeface="Cambria" pitchFamily="34" charset="-122"/>
              </a:rPr>
              <a:t> et Déploiement</a:t>
            </a:r>
            <a:endParaRPr lang="en-US" sz="2800" b="1" dirty="0">
              <a:solidFill>
                <a:srgbClr val="185FA5"/>
              </a:solidFill>
              <a:latin typeface="Cambria" pitchFamily="34" charset="0"/>
              <a:ea typeface="Cambria" pitchFamily="34" charset="-122"/>
            </a:endParaRPr>
          </a:p>
        </p:txBody>
      </p:sp>
      <p:sp>
        <p:nvSpPr>
          <p:cNvPr id="3" name="Text 1"/>
          <p:cNvSpPr/>
          <p:nvPr/>
        </p:nvSpPr>
        <p:spPr>
          <a:xfrm>
            <a:off x="548640" y="4805680"/>
            <a:ext cx="5201920" cy="598932"/>
          </a:xfrm>
          <a:prstGeom prst="rect">
            <a:avLst/>
          </a:prstGeom>
          <a:noFill/>
          <a:ln/>
        </p:spPr>
        <p:txBody>
          <a:bodyPr wrap="square" rtlCol="0" anchor="ctr"/>
          <a:lstStyle/>
          <a:p>
            <a:r>
              <a:rPr lang="fr-MA" sz="1300" i="1" dirty="0">
                <a:solidFill>
                  <a:srgbClr val="5F5E5A"/>
                </a:solidFill>
                <a:latin typeface="Calibri" pitchFamily="34" charset="0"/>
                <a:ea typeface="Calibri" pitchFamily="34" charset="-122"/>
                <a:cs typeface="Calibri" pitchFamily="34" charset="-120"/>
              </a:rPr>
              <a:t>Le Data Source </a:t>
            </a:r>
            <a:r>
              <a:rPr lang="fr-MA" sz="1300" i="1" dirty="0" err="1">
                <a:solidFill>
                  <a:srgbClr val="5F5E5A"/>
                </a:solidFill>
                <a:latin typeface="Calibri" pitchFamily="34" charset="0"/>
                <a:ea typeface="Calibri" pitchFamily="34" charset="-122"/>
                <a:cs typeface="Calibri" pitchFamily="34" charset="-120"/>
              </a:rPr>
              <a:t>View</a:t>
            </a:r>
            <a:r>
              <a:rPr lang="fr-MA" sz="1300" i="1" dirty="0">
                <a:solidFill>
                  <a:srgbClr val="5F5E5A"/>
                </a:solidFill>
                <a:latin typeface="Calibri" pitchFamily="34" charset="0"/>
                <a:ea typeface="Calibri" pitchFamily="34" charset="-122"/>
                <a:cs typeface="Calibri" pitchFamily="34" charset="-120"/>
              </a:rPr>
              <a:t> relie la table de faits </a:t>
            </a:r>
            <a:r>
              <a:rPr lang="fr-MA" sz="1300" i="1" dirty="0" err="1">
                <a:solidFill>
                  <a:srgbClr val="5F5E5A"/>
                </a:solidFill>
                <a:latin typeface="Calibri" pitchFamily="34" charset="0"/>
                <a:ea typeface="Calibri" pitchFamily="34" charset="-122"/>
                <a:cs typeface="Calibri" pitchFamily="34" charset="-120"/>
              </a:rPr>
              <a:t>FACT_Hospitalisations</a:t>
            </a:r>
            <a:r>
              <a:rPr lang="fr-MA" sz="1300" i="1" dirty="0">
                <a:solidFill>
                  <a:srgbClr val="5F5E5A"/>
                </a:solidFill>
                <a:latin typeface="Calibri" pitchFamily="34" charset="0"/>
                <a:ea typeface="Calibri" pitchFamily="34" charset="-122"/>
                <a:cs typeface="Calibri" pitchFamily="34" charset="-120"/>
              </a:rPr>
              <a:t> aux six dimensions du cube OLAP.</a:t>
            </a:r>
            <a:endParaRPr lang="en-US" sz="1300" i="1" dirty="0">
              <a:solidFill>
                <a:srgbClr val="5F5E5A"/>
              </a:solidFill>
              <a:latin typeface="Calibri" pitchFamily="34" charset="0"/>
              <a:ea typeface="Calibri" pitchFamily="34" charset="-122"/>
              <a:cs typeface="Calibri" pitchFamily="34" charset="-120"/>
            </a:endParaRPr>
          </a:p>
        </p:txBody>
      </p:sp>
      <p:pic>
        <p:nvPicPr>
          <p:cNvPr id="4" name="Image 0" descr="/home/claude/hospit/real_screens/ssas_02_deploy_ok.png"/>
          <p:cNvPicPr>
            <a:picLocks noChangeAspect="1"/>
          </p:cNvPicPr>
          <p:nvPr/>
        </p:nvPicPr>
        <p:blipFill>
          <a:blip r:embed="rId3"/>
          <a:stretch>
            <a:fillRect/>
          </a:stretch>
        </p:blipFill>
        <p:spPr>
          <a:xfrm>
            <a:off x="621595" y="1339596"/>
            <a:ext cx="5128965" cy="3466084"/>
          </a:xfrm>
          <a:prstGeom prst="rect">
            <a:avLst/>
          </a:prstGeom>
        </p:spPr>
      </p:pic>
      <p:sp>
        <p:nvSpPr>
          <p:cNvPr id="5" name="Text 2"/>
          <p:cNvSpPr/>
          <p:nvPr/>
        </p:nvSpPr>
        <p:spPr>
          <a:xfrm>
            <a:off x="457200" y="6519672"/>
            <a:ext cx="5486400" cy="256032"/>
          </a:xfrm>
          <a:prstGeom prst="rect">
            <a:avLst/>
          </a:prstGeom>
          <a:noFill/>
          <a:ln/>
        </p:spPr>
        <p:txBody>
          <a:bodyPr wrap="square" rtlCol="0" anchor="ctr"/>
          <a:lstStyle/>
          <a:p>
            <a:pPr marL="0" indent="0">
              <a:buNone/>
            </a:pPr>
            <a:r>
              <a:rPr lang="en-US" sz="1000" dirty="0">
                <a:solidFill>
                  <a:srgbClr val="5F5E5A"/>
                </a:solidFill>
                <a:latin typeface="Calibri" pitchFamily="34" charset="0"/>
                <a:ea typeface="Calibri" pitchFamily="34" charset="-122"/>
                <a:cs typeface="Calibri" pitchFamily="34" charset="-120"/>
              </a:rPr>
              <a:t>6. Cube SSAS</a:t>
            </a:r>
            <a:endParaRPr lang="en-US" sz="1000" dirty="0"/>
          </a:p>
        </p:txBody>
      </p:sp>
      <p:sp>
        <p:nvSpPr>
          <p:cNvPr id="6" name="Text 3"/>
          <p:cNvSpPr/>
          <p:nvPr/>
        </p:nvSpPr>
        <p:spPr>
          <a:xfrm>
            <a:off x="6675120" y="6519672"/>
            <a:ext cx="5029200" cy="256032"/>
          </a:xfrm>
          <a:prstGeom prst="rect">
            <a:avLst/>
          </a:prstGeom>
          <a:noFill/>
          <a:ln/>
        </p:spPr>
        <p:txBody>
          <a:bodyPr wrap="square" rtlCol="0" anchor="ctr"/>
          <a:lstStyle/>
          <a:p>
            <a:pPr marL="0" indent="0" algn="r">
              <a:buNone/>
            </a:pPr>
            <a:r>
              <a:rPr lang="en-US" sz="1000" dirty="0">
                <a:solidFill>
                  <a:srgbClr val="5F5E5A"/>
                </a:solidFill>
                <a:latin typeface="Calibri" pitchFamily="34" charset="0"/>
                <a:ea typeface="Calibri" pitchFamily="34" charset="-122"/>
                <a:cs typeface="Calibri" pitchFamily="34" charset="-120"/>
              </a:rPr>
              <a:t>CHU Ibn Sina — Plateforme BI Hospitalisation</a:t>
            </a:r>
            <a:endParaRPr lang="en-US" sz="1000" dirty="0"/>
          </a:p>
        </p:txBody>
      </p:sp>
      <p:pic>
        <p:nvPicPr>
          <p:cNvPr id="8" name="Image 0" descr="/home/claude/hospit/real_screens/ssas_03_process_ok.png">
            <a:extLst>
              <a:ext uri="{FF2B5EF4-FFF2-40B4-BE49-F238E27FC236}">
                <a16:creationId xmlns:a16="http://schemas.microsoft.com/office/drawing/2014/main" id="{FE041F16-C841-2C20-E81A-07A30B0D9205}"/>
              </a:ext>
            </a:extLst>
          </p:cNvPr>
          <p:cNvPicPr>
            <a:picLocks noChangeAspect="1"/>
          </p:cNvPicPr>
          <p:nvPr/>
        </p:nvPicPr>
        <p:blipFill>
          <a:blip r:embed="rId4"/>
          <a:stretch>
            <a:fillRect/>
          </a:stretch>
        </p:blipFill>
        <p:spPr>
          <a:xfrm>
            <a:off x="5943601" y="1339596"/>
            <a:ext cx="5889264" cy="3466084"/>
          </a:xfrm>
          <a:prstGeom prst="rect">
            <a:avLst/>
          </a:prstGeom>
        </p:spPr>
      </p:pic>
      <p:sp>
        <p:nvSpPr>
          <p:cNvPr id="10" name="Text 1">
            <a:extLst>
              <a:ext uri="{FF2B5EF4-FFF2-40B4-BE49-F238E27FC236}">
                <a16:creationId xmlns:a16="http://schemas.microsoft.com/office/drawing/2014/main" id="{BE0E8BEC-41C5-F561-ECF7-655FFCCA60D4}"/>
              </a:ext>
            </a:extLst>
          </p:cNvPr>
          <p:cNvSpPr/>
          <p:nvPr/>
        </p:nvSpPr>
        <p:spPr>
          <a:xfrm>
            <a:off x="6410960" y="4764278"/>
            <a:ext cx="5201920" cy="598932"/>
          </a:xfrm>
          <a:prstGeom prst="rect">
            <a:avLst/>
          </a:prstGeom>
          <a:noFill/>
          <a:ln/>
        </p:spPr>
        <p:txBody>
          <a:bodyPr wrap="square" rtlCol="0" anchor="ctr"/>
          <a:lstStyle/>
          <a:p>
            <a:r>
              <a:rPr lang="fr-MA" sz="1300" i="1" dirty="0">
                <a:solidFill>
                  <a:srgbClr val="5F5E5A"/>
                </a:solidFill>
                <a:latin typeface="Calibri" pitchFamily="34" charset="0"/>
                <a:ea typeface="Calibri" pitchFamily="34" charset="-122"/>
                <a:cs typeface="Calibri" pitchFamily="34" charset="-120"/>
              </a:rPr>
              <a:t>Déploiement réussi du cube sur SQL Server </a:t>
            </a:r>
            <a:r>
              <a:rPr lang="fr-MA" sz="1300" i="1" dirty="0" err="1">
                <a:solidFill>
                  <a:srgbClr val="5F5E5A"/>
                </a:solidFill>
                <a:latin typeface="Calibri" pitchFamily="34" charset="0"/>
                <a:ea typeface="Calibri" pitchFamily="34" charset="-122"/>
                <a:cs typeface="Calibri" pitchFamily="34" charset="-120"/>
              </a:rPr>
              <a:t>Analysis</a:t>
            </a:r>
            <a:r>
              <a:rPr lang="fr-MA" sz="1300" i="1" dirty="0">
                <a:solidFill>
                  <a:srgbClr val="5F5E5A"/>
                </a:solidFill>
                <a:latin typeface="Calibri" pitchFamily="34" charset="0"/>
                <a:ea typeface="Calibri" pitchFamily="34" charset="-122"/>
                <a:cs typeface="Calibri" pitchFamily="34" charset="-120"/>
              </a:rPr>
              <a:t> Services</a:t>
            </a:r>
            <a:r>
              <a:rPr lang="fr-MA" sz="1400" dirty="0"/>
              <a:t>.</a:t>
            </a:r>
            <a:endParaRPr lang="en-US" sz="1300" i="1" dirty="0">
              <a:solidFill>
                <a:srgbClr val="5F5E5A"/>
              </a:solidFill>
              <a:latin typeface="Calibri" pitchFamily="34" charset="0"/>
              <a:ea typeface="Calibri" pitchFamily="34" charset="-122"/>
              <a:cs typeface="Calibri" pitchFamily="34" charset="-12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r>
              <a:rPr lang="en-US" sz="2800" b="1" dirty="0">
                <a:solidFill>
                  <a:srgbClr val="185FA5"/>
                </a:solidFill>
                <a:latin typeface="Cambria" pitchFamily="34" charset="0"/>
                <a:ea typeface="Cambria" pitchFamily="34" charset="-122"/>
                <a:cs typeface="Cambria" pitchFamily="34" charset="-120"/>
              </a:rPr>
              <a:t>Cube OLAP avec SSAS </a:t>
            </a:r>
            <a:r>
              <a:rPr lang="fr-MA" sz="2800" b="1" dirty="0">
                <a:solidFill>
                  <a:srgbClr val="185FA5"/>
                </a:solidFill>
                <a:latin typeface="Cambria" pitchFamily="34" charset="0"/>
                <a:ea typeface="Cambria" pitchFamily="34" charset="-122"/>
              </a:rPr>
              <a:t>– Traitement et Exploration</a:t>
            </a:r>
            <a:endParaRPr lang="en-US" sz="2800" b="1" dirty="0">
              <a:solidFill>
                <a:srgbClr val="185FA5"/>
              </a:solidFill>
              <a:latin typeface="Cambria" pitchFamily="34" charset="0"/>
              <a:ea typeface="Cambria" pitchFamily="34" charset="-122"/>
            </a:endParaRPr>
          </a:p>
        </p:txBody>
      </p:sp>
      <p:sp>
        <p:nvSpPr>
          <p:cNvPr id="3" name="Text 1"/>
          <p:cNvSpPr/>
          <p:nvPr/>
        </p:nvSpPr>
        <p:spPr>
          <a:xfrm>
            <a:off x="548640" y="896112"/>
            <a:ext cx="11064240" cy="347472"/>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Exploration dans le Navigateur : hospitalisations et DMS par centre</a:t>
            </a:r>
            <a:endParaRPr lang="en-US" sz="1300" dirty="0"/>
          </a:p>
        </p:txBody>
      </p:sp>
      <p:pic>
        <p:nvPicPr>
          <p:cNvPr id="4" name="Image 0" descr="/home/claude/hospit/real_screens/ssas_04_browser.png"/>
          <p:cNvPicPr>
            <a:picLocks noChangeAspect="1"/>
          </p:cNvPicPr>
          <p:nvPr/>
        </p:nvPicPr>
        <p:blipFill>
          <a:blip r:embed="rId3"/>
          <a:stretch>
            <a:fillRect/>
          </a:stretch>
        </p:blipFill>
        <p:spPr>
          <a:xfrm>
            <a:off x="1097280" y="1804022"/>
            <a:ext cx="9966960" cy="4347236"/>
          </a:xfrm>
          <a:prstGeom prst="rect">
            <a:avLst/>
          </a:prstGeom>
        </p:spPr>
      </p:pic>
      <p:sp>
        <p:nvSpPr>
          <p:cNvPr id="5" name="Text 2"/>
          <p:cNvSpPr/>
          <p:nvPr/>
        </p:nvSpPr>
        <p:spPr>
          <a:xfrm>
            <a:off x="457200" y="6519672"/>
            <a:ext cx="5486400" cy="256032"/>
          </a:xfrm>
          <a:prstGeom prst="rect">
            <a:avLst/>
          </a:prstGeom>
          <a:noFill/>
          <a:ln/>
        </p:spPr>
        <p:txBody>
          <a:bodyPr wrap="square" rtlCol="0" anchor="ctr"/>
          <a:lstStyle/>
          <a:p>
            <a:pPr marL="0" indent="0">
              <a:buNone/>
            </a:pPr>
            <a:r>
              <a:rPr lang="en-US" sz="1000" dirty="0">
                <a:solidFill>
                  <a:srgbClr val="5F5E5A"/>
                </a:solidFill>
                <a:latin typeface="Calibri" pitchFamily="34" charset="0"/>
                <a:ea typeface="Calibri" pitchFamily="34" charset="-122"/>
                <a:cs typeface="Calibri" pitchFamily="34" charset="-120"/>
              </a:rPr>
              <a:t>6. Cube SSAS</a:t>
            </a:r>
            <a:endParaRPr lang="en-US" sz="1000" dirty="0"/>
          </a:p>
        </p:txBody>
      </p:sp>
      <p:sp>
        <p:nvSpPr>
          <p:cNvPr id="6" name="Text 3"/>
          <p:cNvSpPr/>
          <p:nvPr/>
        </p:nvSpPr>
        <p:spPr>
          <a:xfrm>
            <a:off x="6675120" y="6519672"/>
            <a:ext cx="5029200" cy="256032"/>
          </a:xfrm>
          <a:prstGeom prst="rect">
            <a:avLst/>
          </a:prstGeom>
          <a:noFill/>
          <a:ln/>
        </p:spPr>
        <p:txBody>
          <a:bodyPr wrap="square" rtlCol="0" anchor="ctr"/>
          <a:lstStyle/>
          <a:p>
            <a:pPr marL="0" indent="0" algn="r">
              <a:buNone/>
            </a:pPr>
            <a:r>
              <a:rPr lang="en-US" sz="1000" dirty="0">
                <a:solidFill>
                  <a:srgbClr val="5F5E5A"/>
                </a:solidFill>
                <a:latin typeface="Calibri" pitchFamily="34" charset="0"/>
                <a:ea typeface="Calibri" pitchFamily="34" charset="-122"/>
                <a:cs typeface="Calibri" pitchFamily="34" charset="-120"/>
              </a:rPr>
              <a:t>CHU Ibn Sina — Plateforme BI Hospitalisation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pPr marL="0" indent="0">
              <a:buNone/>
            </a:pPr>
            <a:r>
              <a:rPr lang="en-US" sz="2800" b="1" dirty="0">
                <a:solidFill>
                  <a:srgbClr val="185FA5"/>
                </a:solidFill>
                <a:latin typeface="Cambria" pitchFamily="34" charset="0"/>
                <a:ea typeface="Cambria" pitchFamily="34" charset="-122"/>
                <a:cs typeface="Cambria" pitchFamily="34" charset="-120"/>
              </a:rPr>
              <a:t>Dashboards Power BI — Vue Générale</a:t>
            </a:r>
            <a:endParaRPr lang="en-US" sz="2800" dirty="0"/>
          </a:p>
        </p:txBody>
      </p:sp>
      <p:sp>
        <p:nvSpPr>
          <p:cNvPr id="3" name="Text 1"/>
          <p:cNvSpPr/>
          <p:nvPr/>
        </p:nvSpPr>
        <p:spPr>
          <a:xfrm>
            <a:off x="548640" y="896112"/>
            <a:ext cx="11064240" cy="347472"/>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KPIs globaux, hospitalisations par année, type d'admission, détail par centre  ·  Live Connection SSAS</a:t>
            </a:r>
            <a:endParaRPr lang="en-US" sz="1300" dirty="0"/>
          </a:p>
        </p:txBody>
      </p:sp>
      <p:pic>
        <p:nvPicPr>
          <p:cNvPr id="4" name="Image 0" descr="/home/claude/hospit/real_screens/pbi_01_vuegenerale.png"/>
          <p:cNvPicPr>
            <a:picLocks noChangeAspect="1"/>
          </p:cNvPicPr>
          <p:nvPr/>
        </p:nvPicPr>
        <p:blipFill>
          <a:blip r:embed="rId3"/>
          <a:stretch>
            <a:fillRect/>
          </a:stretch>
        </p:blipFill>
        <p:spPr>
          <a:xfrm>
            <a:off x="1798691" y="1554480"/>
            <a:ext cx="8564136" cy="4800600"/>
          </a:xfrm>
          <a:prstGeom prst="rect">
            <a:avLst/>
          </a:prstGeom>
        </p:spPr>
      </p:pic>
      <p:sp>
        <p:nvSpPr>
          <p:cNvPr id="5" name="Text 2"/>
          <p:cNvSpPr/>
          <p:nvPr/>
        </p:nvSpPr>
        <p:spPr>
          <a:xfrm>
            <a:off x="457200" y="6519672"/>
            <a:ext cx="5486400" cy="256032"/>
          </a:xfrm>
          <a:prstGeom prst="rect">
            <a:avLst/>
          </a:prstGeom>
          <a:noFill/>
          <a:ln/>
        </p:spPr>
        <p:txBody>
          <a:bodyPr wrap="square" rtlCol="0" anchor="ctr"/>
          <a:lstStyle/>
          <a:p>
            <a:pPr marL="0" indent="0">
              <a:buNone/>
            </a:pPr>
            <a:r>
              <a:rPr lang="en-US" sz="1000" dirty="0">
                <a:solidFill>
                  <a:srgbClr val="5F5E5A"/>
                </a:solidFill>
                <a:latin typeface="Calibri" pitchFamily="34" charset="0"/>
                <a:ea typeface="Calibri" pitchFamily="34" charset="-122"/>
                <a:cs typeface="Calibri" pitchFamily="34" charset="-120"/>
              </a:rPr>
              <a:t>7. Power BI — Page 1/5</a:t>
            </a:r>
            <a:endParaRPr lang="en-US" sz="1000" dirty="0"/>
          </a:p>
        </p:txBody>
      </p:sp>
      <p:sp>
        <p:nvSpPr>
          <p:cNvPr id="6" name="Text 3"/>
          <p:cNvSpPr/>
          <p:nvPr/>
        </p:nvSpPr>
        <p:spPr>
          <a:xfrm>
            <a:off x="6675120" y="6519672"/>
            <a:ext cx="5029200" cy="256032"/>
          </a:xfrm>
          <a:prstGeom prst="rect">
            <a:avLst/>
          </a:prstGeom>
          <a:noFill/>
          <a:ln/>
        </p:spPr>
        <p:txBody>
          <a:bodyPr wrap="square" rtlCol="0" anchor="ctr"/>
          <a:lstStyle/>
          <a:p>
            <a:pPr marL="0" indent="0" algn="r">
              <a:buNone/>
            </a:pPr>
            <a:r>
              <a:rPr lang="en-US" sz="1000" dirty="0">
                <a:solidFill>
                  <a:srgbClr val="5F5E5A"/>
                </a:solidFill>
                <a:latin typeface="Calibri" pitchFamily="34" charset="0"/>
                <a:ea typeface="Calibri" pitchFamily="34" charset="-122"/>
                <a:cs typeface="Calibri" pitchFamily="34" charset="-120"/>
              </a:rPr>
              <a:t>CHU Ibn Sina — Plateforme BI Hospitalisation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pPr marL="0" indent="0">
              <a:buNone/>
            </a:pPr>
            <a:r>
              <a:rPr lang="en-US" sz="2800" b="1" dirty="0">
                <a:solidFill>
                  <a:srgbClr val="185FA5"/>
                </a:solidFill>
                <a:latin typeface="Cambria" pitchFamily="34" charset="0"/>
                <a:ea typeface="Cambria" pitchFamily="34" charset="-122"/>
                <a:cs typeface="Cambria" pitchFamily="34" charset="-120"/>
              </a:rPr>
              <a:t>Dashboards Power BI — Analyse Par Service</a:t>
            </a:r>
            <a:endParaRPr lang="en-US" sz="2800" dirty="0"/>
          </a:p>
        </p:txBody>
      </p:sp>
      <p:sp>
        <p:nvSpPr>
          <p:cNvPr id="3" name="Text 1"/>
          <p:cNvSpPr/>
          <p:nvPr/>
        </p:nvSpPr>
        <p:spPr>
          <a:xfrm>
            <a:off x="548640" y="896112"/>
            <a:ext cx="11064240" cy="347472"/>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Top services et taux de réadmission à 30 jours  ·  Live Connection SSAS</a:t>
            </a:r>
            <a:endParaRPr lang="en-US" sz="1300" dirty="0"/>
          </a:p>
        </p:txBody>
      </p:sp>
      <p:pic>
        <p:nvPicPr>
          <p:cNvPr id="4" name="Image 0" descr="/home/claude/hospit/real_screens/pbi_03_parservice.png"/>
          <p:cNvPicPr>
            <a:picLocks noChangeAspect="1"/>
          </p:cNvPicPr>
          <p:nvPr/>
        </p:nvPicPr>
        <p:blipFill>
          <a:blip r:embed="rId3"/>
          <a:stretch>
            <a:fillRect/>
          </a:stretch>
        </p:blipFill>
        <p:spPr>
          <a:xfrm>
            <a:off x="1898758" y="1554480"/>
            <a:ext cx="8564136" cy="4800600"/>
          </a:xfrm>
          <a:prstGeom prst="rect">
            <a:avLst/>
          </a:prstGeom>
        </p:spPr>
      </p:pic>
      <p:sp>
        <p:nvSpPr>
          <p:cNvPr id="5" name="Text 2"/>
          <p:cNvSpPr/>
          <p:nvPr/>
        </p:nvSpPr>
        <p:spPr>
          <a:xfrm>
            <a:off x="457200" y="6519672"/>
            <a:ext cx="5486400" cy="256032"/>
          </a:xfrm>
          <a:prstGeom prst="rect">
            <a:avLst/>
          </a:prstGeom>
          <a:noFill/>
          <a:ln/>
        </p:spPr>
        <p:txBody>
          <a:bodyPr wrap="square" rtlCol="0" anchor="ctr"/>
          <a:lstStyle/>
          <a:p>
            <a:pPr marL="0" indent="0">
              <a:buNone/>
            </a:pPr>
            <a:r>
              <a:rPr lang="en-US" sz="1000" dirty="0">
                <a:solidFill>
                  <a:srgbClr val="5F5E5A"/>
                </a:solidFill>
                <a:latin typeface="Calibri" pitchFamily="34" charset="0"/>
                <a:ea typeface="Calibri" pitchFamily="34" charset="-122"/>
                <a:cs typeface="Calibri" pitchFamily="34" charset="-120"/>
              </a:rPr>
              <a:t>7. Power BI — Page 3/5</a:t>
            </a:r>
            <a:endParaRPr lang="en-US" sz="1000" dirty="0"/>
          </a:p>
        </p:txBody>
      </p:sp>
      <p:sp>
        <p:nvSpPr>
          <p:cNvPr id="6" name="Text 3"/>
          <p:cNvSpPr/>
          <p:nvPr/>
        </p:nvSpPr>
        <p:spPr>
          <a:xfrm>
            <a:off x="6675120" y="6519672"/>
            <a:ext cx="5029200" cy="256032"/>
          </a:xfrm>
          <a:prstGeom prst="rect">
            <a:avLst/>
          </a:prstGeom>
          <a:noFill/>
          <a:ln/>
        </p:spPr>
        <p:txBody>
          <a:bodyPr wrap="square" rtlCol="0" anchor="ctr"/>
          <a:lstStyle/>
          <a:p>
            <a:pPr marL="0" indent="0" algn="r">
              <a:buNone/>
            </a:pPr>
            <a:r>
              <a:rPr lang="en-US" sz="1000" dirty="0">
                <a:solidFill>
                  <a:srgbClr val="5F5E5A"/>
                </a:solidFill>
                <a:latin typeface="Calibri" pitchFamily="34" charset="0"/>
                <a:ea typeface="Calibri" pitchFamily="34" charset="-122"/>
                <a:cs typeface="Calibri" pitchFamily="34" charset="-120"/>
              </a:rPr>
              <a:t>CHU Ibn Sina — Plateforme BI Hospitalisation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pPr marL="0" indent="0">
              <a:buNone/>
            </a:pPr>
            <a:r>
              <a:rPr lang="en-US" sz="2800" b="1" dirty="0">
                <a:solidFill>
                  <a:srgbClr val="185FA5"/>
                </a:solidFill>
                <a:latin typeface="Cambria" pitchFamily="34" charset="0"/>
                <a:ea typeface="Cambria" pitchFamily="34" charset="-122"/>
                <a:cs typeface="Cambria" pitchFamily="34" charset="-120"/>
              </a:rPr>
              <a:t>Dashboards Power BI — Analyse Par Médecin</a:t>
            </a:r>
            <a:endParaRPr lang="en-US" sz="2800" dirty="0"/>
          </a:p>
        </p:txBody>
      </p:sp>
      <p:sp>
        <p:nvSpPr>
          <p:cNvPr id="3" name="Text 1"/>
          <p:cNvSpPr/>
          <p:nvPr/>
        </p:nvSpPr>
        <p:spPr>
          <a:xfrm>
            <a:off x="548640" y="896112"/>
            <a:ext cx="11064240" cy="347472"/>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Top 10 praticiens et répartition du personnel médical  ·  Live Connection SSAS</a:t>
            </a:r>
            <a:endParaRPr lang="en-US" sz="1300" dirty="0"/>
          </a:p>
        </p:txBody>
      </p:sp>
      <p:pic>
        <p:nvPicPr>
          <p:cNvPr id="4" name="Image 0" descr="/home/claude/hospit/real_screens/pbi_04_parmedecin.png"/>
          <p:cNvPicPr>
            <a:picLocks noChangeAspect="1"/>
          </p:cNvPicPr>
          <p:nvPr/>
        </p:nvPicPr>
        <p:blipFill>
          <a:blip r:embed="rId3"/>
          <a:stretch>
            <a:fillRect/>
          </a:stretch>
        </p:blipFill>
        <p:spPr>
          <a:xfrm>
            <a:off x="1646559" y="1389888"/>
            <a:ext cx="8594081" cy="4800600"/>
          </a:xfrm>
          <a:prstGeom prst="rect">
            <a:avLst/>
          </a:prstGeom>
        </p:spPr>
      </p:pic>
      <p:sp>
        <p:nvSpPr>
          <p:cNvPr id="5" name="Text 2"/>
          <p:cNvSpPr/>
          <p:nvPr/>
        </p:nvSpPr>
        <p:spPr>
          <a:xfrm>
            <a:off x="457200" y="6519672"/>
            <a:ext cx="5486400" cy="256032"/>
          </a:xfrm>
          <a:prstGeom prst="rect">
            <a:avLst/>
          </a:prstGeom>
          <a:noFill/>
          <a:ln/>
        </p:spPr>
        <p:txBody>
          <a:bodyPr wrap="square" rtlCol="0" anchor="ctr"/>
          <a:lstStyle/>
          <a:p>
            <a:pPr marL="0" indent="0">
              <a:buNone/>
            </a:pPr>
            <a:r>
              <a:rPr lang="en-US" sz="1000" dirty="0">
                <a:solidFill>
                  <a:srgbClr val="5F5E5A"/>
                </a:solidFill>
                <a:latin typeface="Calibri" pitchFamily="34" charset="0"/>
                <a:ea typeface="Calibri" pitchFamily="34" charset="-122"/>
                <a:cs typeface="Calibri" pitchFamily="34" charset="-120"/>
              </a:rPr>
              <a:t>7. Power BI — Page 4/5</a:t>
            </a:r>
            <a:endParaRPr lang="en-US" sz="1000" dirty="0"/>
          </a:p>
        </p:txBody>
      </p:sp>
      <p:sp>
        <p:nvSpPr>
          <p:cNvPr id="6" name="Text 3"/>
          <p:cNvSpPr/>
          <p:nvPr/>
        </p:nvSpPr>
        <p:spPr>
          <a:xfrm>
            <a:off x="6675120" y="6519672"/>
            <a:ext cx="5029200" cy="256032"/>
          </a:xfrm>
          <a:prstGeom prst="rect">
            <a:avLst/>
          </a:prstGeom>
          <a:noFill/>
          <a:ln/>
        </p:spPr>
        <p:txBody>
          <a:bodyPr wrap="square" rtlCol="0" anchor="ctr"/>
          <a:lstStyle/>
          <a:p>
            <a:pPr marL="0" indent="0" algn="r">
              <a:buNone/>
            </a:pPr>
            <a:r>
              <a:rPr lang="en-US" sz="1000" dirty="0">
                <a:solidFill>
                  <a:srgbClr val="5F5E5A"/>
                </a:solidFill>
                <a:latin typeface="Calibri" pitchFamily="34" charset="0"/>
                <a:ea typeface="Calibri" pitchFamily="34" charset="-122"/>
                <a:cs typeface="Calibri" pitchFamily="34" charset="-120"/>
              </a:rPr>
              <a:t>CHU Ibn Sina — Plateforme BI Hospitalisation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pPr marL="0" indent="0">
              <a:buNone/>
            </a:pPr>
            <a:r>
              <a:rPr lang="en-US" sz="2800" b="1" dirty="0">
                <a:solidFill>
                  <a:srgbClr val="185FA5"/>
                </a:solidFill>
                <a:latin typeface="Cambria" pitchFamily="34" charset="0"/>
                <a:ea typeface="Cambria" pitchFamily="34" charset="-122"/>
                <a:cs typeface="Cambria" pitchFamily="34" charset="-120"/>
              </a:rPr>
              <a:t>Dashboards Power BI — Analyse Temporelle</a:t>
            </a:r>
            <a:endParaRPr lang="en-US" sz="2800" dirty="0"/>
          </a:p>
        </p:txBody>
      </p:sp>
      <p:sp>
        <p:nvSpPr>
          <p:cNvPr id="3" name="Text 1"/>
          <p:cNvSpPr/>
          <p:nvPr/>
        </p:nvSpPr>
        <p:spPr>
          <a:xfrm>
            <a:off x="548640" y="896112"/>
            <a:ext cx="11064240" cy="347472"/>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Évolution annuelle, saisonnalité trimestrielle, table récapitulative  ·  Live Connection SSAS</a:t>
            </a:r>
            <a:endParaRPr lang="en-US" sz="1300" dirty="0"/>
          </a:p>
        </p:txBody>
      </p:sp>
      <p:pic>
        <p:nvPicPr>
          <p:cNvPr id="4" name="Image 0" descr="/home/claude/hospit/real_screens/pbi_05_temporelle.png"/>
          <p:cNvPicPr>
            <a:picLocks noChangeAspect="1"/>
          </p:cNvPicPr>
          <p:nvPr/>
        </p:nvPicPr>
        <p:blipFill>
          <a:blip r:embed="rId3"/>
          <a:stretch>
            <a:fillRect/>
          </a:stretch>
        </p:blipFill>
        <p:spPr>
          <a:xfrm>
            <a:off x="1653593" y="1554480"/>
            <a:ext cx="8873311" cy="4800600"/>
          </a:xfrm>
          <a:prstGeom prst="rect">
            <a:avLst/>
          </a:prstGeom>
        </p:spPr>
      </p:pic>
      <p:sp>
        <p:nvSpPr>
          <p:cNvPr id="5" name="Text 2"/>
          <p:cNvSpPr/>
          <p:nvPr/>
        </p:nvSpPr>
        <p:spPr>
          <a:xfrm>
            <a:off x="457200" y="6519672"/>
            <a:ext cx="5486400" cy="256032"/>
          </a:xfrm>
          <a:prstGeom prst="rect">
            <a:avLst/>
          </a:prstGeom>
          <a:noFill/>
          <a:ln/>
        </p:spPr>
        <p:txBody>
          <a:bodyPr wrap="square" rtlCol="0" anchor="ctr"/>
          <a:lstStyle/>
          <a:p>
            <a:pPr marL="0" indent="0">
              <a:buNone/>
            </a:pPr>
            <a:r>
              <a:rPr lang="en-US" sz="1000" dirty="0">
                <a:solidFill>
                  <a:srgbClr val="5F5E5A"/>
                </a:solidFill>
                <a:latin typeface="Calibri" pitchFamily="34" charset="0"/>
                <a:ea typeface="Calibri" pitchFamily="34" charset="-122"/>
                <a:cs typeface="Calibri" pitchFamily="34" charset="-120"/>
              </a:rPr>
              <a:t>7. Power BI — Page 5/5</a:t>
            </a:r>
            <a:endParaRPr lang="en-US" sz="1000" dirty="0"/>
          </a:p>
        </p:txBody>
      </p:sp>
      <p:sp>
        <p:nvSpPr>
          <p:cNvPr id="6" name="Text 3"/>
          <p:cNvSpPr/>
          <p:nvPr/>
        </p:nvSpPr>
        <p:spPr>
          <a:xfrm>
            <a:off x="6675120" y="6519672"/>
            <a:ext cx="5029200" cy="256032"/>
          </a:xfrm>
          <a:prstGeom prst="rect">
            <a:avLst/>
          </a:prstGeom>
          <a:noFill/>
          <a:ln/>
        </p:spPr>
        <p:txBody>
          <a:bodyPr wrap="square" rtlCol="0" anchor="ctr"/>
          <a:lstStyle/>
          <a:p>
            <a:pPr marL="0" indent="0" algn="r">
              <a:buNone/>
            </a:pPr>
            <a:r>
              <a:rPr lang="en-US" sz="1000" dirty="0">
                <a:solidFill>
                  <a:srgbClr val="5F5E5A"/>
                </a:solidFill>
                <a:latin typeface="Calibri" pitchFamily="34" charset="0"/>
                <a:ea typeface="Calibri" pitchFamily="34" charset="-122"/>
                <a:cs typeface="Calibri" pitchFamily="34" charset="-120"/>
              </a:rPr>
              <a:t>CHU Ibn Sina — Plateforme BI Hospitalisation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pPr marL="0" indent="0">
              <a:buNone/>
            </a:pPr>
            <a:r>
              <a:rPr lang="en-US" sz="2800" b="1" dirty="0">
                <a:solidFill>
                  <a:srgbClr val="185FA5"/>
                </a:solidFill>
                <a:latin typeface="Cambria" pitchFamily="34" charset="0"/>
                <a:ea typeface="Cambria" pitchFamily="34" charset="-122"/>
                <a:cs typeface="Cambria" pitchFamily="34" charset="-120"/>
              </a:rPr>
              <a:t>Difficultés Rencontrées &amp; Solutions</a:t>
            </a:r>
            <a:endParaRPr lang="en-US" sz="2800" dirty="0"/>
          </a:p>
        </p:txBody>
      </p:sp>
      <p:sp>
        <p:nvSpPr>
          <p:cNvPr id="3" name="Text 1"/>
          <p:cNvSpPr/>
          <p:nvPr/>
        </p:nvSpPr>
        <p:spPr>
          <a:xfrm>
            <a:off x="548640" y="896112"/>
            <a:ext cx="11064240" cy="347472"/>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Problèmes réels rencontrés durant la construction du projet</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4480560"/>
        </p:xfrm>
        <a:graphic>
          <a:graphicData uri="http://schemas.openxmlformats.org/drawingml/2006/table">
            <a:tbl>
              <a:tblPr/>
              <a:tblGrid>
                <a:gridCol w="32918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640080">
                <a:tc>
                  <a:txBody>
                    <a:bodyPr/>
                    <a:lstStyle/>
                    <a:p>
                      <a:pPr marL="0" indent="0">
                        <a:buNone/>
                      </a:pPr>
                      <a:r>
                        <a:rPr lang="en-US" sz="1150" b="1" dirty="0">
                          <a:solidFill>
                            <a:srgbClr val="FFFFFF"/>
                          </a:solidFill>
                        </a:rPr>
                        <a:t>Difficulté</a:t>
                      </a:r>
                      <a:endParaRPr lang="en-US" sz="11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2A45"/>
                    </a:solidFill>
                  </a:tcPr>
                </a:tc>
                <a:tc>
                  <a:txBody>
                    <a:bodyPr/>
                    <a:lstStyle/>
                    <a:p>
                      <a:pPr marL="0" indent="0">
                        <a:buNone/>
                      </a:pPr>
                      <a:r>
                        <a:rPr lang="en-US" sz="1150" b="1" dirty="0">
                          <a:solidFill>
                            <a:srgbClr val="FFFFFF"/>
                          </a:solidFill>
                        </a:rPr>
                        <a:t>Cause</a:t>
                      </a:r>
                      <a:endParaRPr lang="en-US" sz="11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2A45"/>
                    </a:solidFill>
                  </a:tcPr>
                </a:tc>
                <a:tc>
                  <a:txBody>
                    <a:bodyPr/>
                    <a:lstStyle/>
                    <a:p>
                      <a:pPr marL="0" indent="0">
                        <a:buNone/>
                      </a:pPr>
                      <a:r>
                        <a:rPr lang="en-US" sz="1150" b="1" dirty="0">
                          <a:solidFill>
                            <a:srgbClr val="FFFFFF"/>
                          </a:solidFill>
                        </a:rPr>
                        <a:t>Solution appliquée</a:t>
                      </a:r>
                      <a:endParaRPr lang="en-US" sz="11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2A45"/>
                    </a:solidFill>
                  </a:tcPr>
                </a:tc>
                <a:extLst>
                  <a:ext uri="{0D108BD9-81ED-4DB2-BD59-A6C34878D82A}">
                    <a16:rowId xmlns:a16="http://schemas.microsoft.com/office/drawing/2014/main" val="10000"/>
                  </a:ext>
                </a:extLst>
              </a:tr>
              <a:tr h="640080">
                <a:tc>
                  <a:txBody>
                    <a:bodyPr/>
                    <a:lstStyle/>
                    <a:p>
                      <a:pPr marL="0" indent="0">
                        <a:buNone/>
                      </a:pPr>
                      <a:r>
                        <a:rPr lang="en-US" sz="1100" dirty="0">
                          <a:solidFill>
                            <a:srgbClr val="333333"/>
                          </a:solidFill>
                        </a:rPr>
                        <a:t>Erreur Unicode/non-Unicode (SSIS)</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100" dirty="0">
                          <a:solidFill>
                            <a:srgbClr val="333333"/>
                          </a:solidFill>
                        </a:rPr>
                        <a:t>Colonnes texte NVARCHAR vs VARCHAR</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100" dirty="0">
                          <a:solidFill>
                            <a:srgbClr val="333333"/>
                          </a:solidFill>
                        </a:rPr>
                        <a:t>Conversion des colonnes sources en SQL Server</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100" dirty="0">
                          <a:solidFill>
                            <a:srgbClr val="333333"/>
                          </a:solidFill>
                        </a:rPr>
                        <a:t>Résolution des clés du fait</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4F8"/>
                    </a:solidFill>
                  </a:tcPr>
                </a:tc>
                <a:tc>
                  <a:txBody>
                    <a:bodyPr/>
                    <a:lstStyle/>
                    <a:p>
                      <a:pPr marL="0" indent="0">
                        <a:buNone/>
                      </a:pPr>
                      <a:r>
                        <a:rPr lang="en-US" sz="1100" dirty="0">
                          <a:solidFill>
                            <a:srgbClr val="333333"/>
                          </a:solidFill>
                        </a:rPr>
                        <a:t>Clés métier brutes, pas de surrogate keys</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4F8"/>
                    </a:solidFill>
                  </a:tcPr>
                </a:tc>
                <a:tc>
                  <a:txBody>
                    <a:bodyPr/>
                    <a:lstStyle/>
                    <a:p>
                      <a:pPr marL="0" indent="0">
                        <a:buNone/>
                      </a:pPr>
                      <a:r>
                        <a:rPr lang="en-US" sz="1100" dirty="0">
                          <a:solidFill>
                            <a:srgbClr val="333333"/>
                          </a:solidFill>
                        </a:rPr>
                        <a:t>Colonnes "_src" + 5 Lookups en série</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640080">
                <a:tc>
                  <a:txBody>
                    <a:bodyPr/>
                    <a:lstStyle/>
                    <a:p>
                      <a:pPr marL="0" indent="0">
                        <a:buNone/>
                      </a:pPr>
                      <a:r>
                        <a:rPr lang="en-US" sz="1100" dirty="0">
                          <a:solidFill>
                            <a:srgbClr val="333333"/>
                          </a:solidFill>
                        </a:rPr>
                        <a:t>Cube SSAS injoignable ("localhost")</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100" dirty="0">
                          <a:solidFill>
                            <a:srgbClr val="333333"/>
                          </a:solidFill>
                        </a:rPr>
                        <a:t>Instance SSAS nommée, pas par défaut</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100" dirty="0">
                          <a:solidFill>
                            <a:srgbClr val="333333"/>
                          </a:solidFill>
                        </a:rPr>
                        <a:t>Nom d'instance identifié via Services Windows</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buNone/>
                      </a:pPr>
                      <a:r>
                        <a:rPr lang="en-US" sz="1100" dirty="0">
                          <a:solidFill>
                            <a:srgbClr val="333333"/>
                          </a:solidFill>
                        </a:rPr>
                        <a:t>Mesures "True"/"False" au lieu d'un nombre</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4F8"/>
                    </a:solidFill>
                  </a:tcPr>
                </a:tc>
                <a:tc>
                  <a:txBody>
                    <a:bodyPr/>
                    <a:lstStyle/>
                    <a:p>
                      <a:pPr marL="0" indent="0">
                        <a:buNone/>
                      </a:pPr>
                      <a:r>
                        <a:rPr lang="en-US" sz="1100" dirty="0">
                          <a:solidFill>
                            <a:srgbClr val="333333"/>
                          </a:solidFill>
                        </a:rPr>
                        <a:t>Colonnes BIT mal interprétées (Boolean)</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4F8"/>
                    </a:solidFill>
                  </a:tcPr>
                </a:tc>
                <a:tc>
                  <a:txBody>
                    <a:bodyPr/>
                    <a:lstStyle/>
                    <a:p>
                      <a:pPr marL="0" indent="0">
                        <a:buNone/>
                      </a:pPr>
                      <a:r>
                        <a:rPr lang="en-US" sz="1100" dirty="0">
                          <a:solidFill>
                            <a:srgbClr val="333333"/>
                          </a:solidFill>
                        </a:rPr>
                        <a:t>Conversion des colonnes en INT</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4F8"/>
                    </a:solidFill>
                  </a:tcPr>
                </a:tc>
                <a:extLst>
                  <a:ext uri="{0D108BD9-81ED-4DB2-BD59-A6C34878D82A}">
                    <a16:rowId xmlns:a16="http://schemas.microsoft.com/office/drawing/2014/main" val="10004"/>
                  </a:ext>
                </a:extLst>
              </a:tr>
              <a:tr h="640080">
                <a:tc>
                  <a:txBody>
                    <a:bodyPr/>
                    <a:lstStyle/>
                    <a:p>
                      <a:pPr marL="0" indent="0">
                        <a:buNone/>
                      </a:pPr>
                      <a:r>
                        <a:rPr lang="en-US" sz="1100" dirty="0">
                          <a:solidFill>
                            <a:srgbClr val="333333"/>
                          </a:solidFill>
                        </a:rPr>
                        <a:t>Cube retournant "aucune ligne"</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100" dirty="0">
                          <a:solidFill>
                            <a:srgbClr val="333333"/>
                          </a:solidFill>
                        </a:rPr>
                        <a:t>Suppression accidentelle de "CALCULATE;"</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100" dirty="0">
                          <a:solidFill>
                            <a:srgbClr val="333333"/>
                          </a:solidFill>
                        </a:rPr>
                        <a:t>Réintégration de la ligne obligatoire</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40080">
                <a:tc>
                  <a:txBody>
                    <a:bodyPr/>
                    <a:lstStyle/>
                    <a:p>
                      <a:pPr marL="0" indent="0">
                        <a:buNone/>
                      </a:pPr>
                      <a:r>
                        <a:rPr lang="en-US" sz="1100" dirty="0">
                          <a:solidFill>
                            <a:srgbClr val="333333"/>
                          </a:solidFill>
                        </a:rPr>
                        <a:t>Table de faits disparue du DSV</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4F8"/>
                    </a:solidFill>
                  </a:tcPr>
                </a:tc>
                <a:tc>
                  <a:txBody>
                    <a:bodyPr/>
                    <a:lstStyle/>
                    <a:p>
                      <a:pPr marL="0" indent="0">
                        <a:buNone/>
                      </a:pPr>
                      <a:r>
                        <a:rPr lang="en-US" sz="1100" dirty="0">
                          <a:solidFill>
                            <a:srgbClr val="333333"/>
                          </a:solidFill>
                        </a:rPr>
                        <a:t>Liaison cassée avec le groupe de mesures</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4F8"/>
                    </a:solidFill>
                  </a:tcPr>
                </a:tc>
                <a:tc>
                  <a:txBody>
                    <a:bodyPr/>
                    <a:lstStyle/>
                    <a:p>
                      <a:pPr marL="0" indent="0">
                        <a:buNone/>
                      </a:pPr>
                      <a:r>
                        <a:rPr lang="en-US" sz="1100" dirty="0">
                          <a:solidFill>
                            <a:srgbClr val="333333"/>
                          </a:solidFill>
                        </a:rPr>
                        <a:t>Reconstruction d'un projet SSAS propre</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4F8"/>
                    </a:solidFill>
                  </a:tcPr>
                </a:tc>
                <a:extLst>
                  <a:ext uri="{0D108BD9-81ED-4DB2-BD59-A6C34878D82A}">
                    <a16:rowId xmlns:a16="http://schemas.microsoft.com/office/drawing/2014/main" val="10006"/>
                  </a:ext>
                </a:extLst>
              </a:tr>
            </a:tbl>
          </a:graphicData>
        </a:graphic>
      </p:graphicFrame>
      <p:sp>
        <p:nvSpPr>
          <p:cNvPr id="5" name="Text 2"/>
          <p:cNvSpPr/>
          <p:nvPr/>
        </p:nvSpPr>
        <p:spPr>
          <a:xfrm>
            <a:off x="457200" y="6519672"/>
            <a:ext cx="5486400" cy="256032"/>
          </a:xfrm>
          <a:prstGeom prst="rect">
            <a:avLst/>
          </a:prstGeom>
          <a:noFill/>
          <a:ln/>
        </p:spPr>
        <p:txBody>
          <a:bodyPr wrap="square" rtlCol="0" anchor="ctr"/>
          <a:lstStyle/>
          <a:p>
            <a:pPr marL="0" indent="0">
              <a:buNone/>
            </a:pPr>
            <a:r>
              <a:rPr lang="en-US" sz="1000" dirty="0">
                <a:solidFill>
                  <a:srgbClr val="5F5E5A"/>
                </a:solidFill>
                <a:latin typeface="Calibri" pitchFamily="34" charset="0"/>
                <a:ea typeface="Calibri" pitchFamily="34" charset="-122"/>
                <a:cs typeface="Calibri" pitchFamily="34" charset="-120"/>
              </a:rPr>
              <a:t>8. Difficultés</a:t>
            </a:r>
            <a:endParaRPr lang="en-US" sz="1000" dirty="0"/>
          </a:p>
        </p:txBody>
      </p:sp>
      <p:sp>
        <p:nvSpPr>
          <p:cNvPr id="6" name="Text 3"/>
          <p:cNvSpPr/>
          <p:nvPr/>
        </p:nvSpPr>
        <p:spPr>
          <a:xfrm>
            <a:off x="6675120" y="6519672"/>
            <a:ext cx="5029200" cy="256032"/>
          </a:xfrm>
          <a:prstGeom prst="rect">
            <a:avLst/>
          </a:prstGeom>
          <a:noFill/>
          <a:ln/>
        </p:spPr>
        <p:txBody>
          <a:bodyPr wrap="square" rtlCol="0" anchor="ctr"/>
          <a:lstStyle/>
          <a:p>
            <a:pPr marL="0" indent="0" algn="r">
              <a:buNone/>
            </a:pPr>
            <a:r>
              <a:rPr lang="en-US" sz="1000" dirty="0">
                <a:solidFill>
                  <a:srgbClr val="5F5E5A"/>
                </a:solidFill>
                <a:latin typeface="Calibri" pitchFamily="34" charset="0"/>
                <a:ea typeface="Calibri" pitchFamily="34" charset="-122"/>
                <a:cs typeface="Calibri" pitchFamily="34" charset="-120"/>
              </a:rPr>
              <a:t>CHU Ibn Sina — Plateforme BI Hospitalisation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94360"/>
          </a:xfrm>
          <a:prstGeom prst="rect">
            <a:avLst/>
          </a:prstGeom>
          <a:noFill/>
          <a:ln/>
        </p:spPr>
        <p:txBody>
          <a:bodyPr wrap="square" rtlCol="0" anchor="ctr"/>
          <a:lstStyle/>
          <a:p>
            <a:pPr marL="0" indent="0">
              <a:buNone/>
            </a:pPr>
            <a:r>
              <a:rPr lang="en-US" sz="2800" b="1" dirty="0">
                <a:solidFill>
                  <a:srgbClr val="185FA5"/>
                </a:solidFill>
                <a:latin typeface="Cambria" pitchFamily="34" charset="0"/>
                <a:ea typeface="Cambria" pitchFamily="34" charset="-122"/>
                <a:cs typeface="Cambria" pitchFamily="34" charset="-120"/>
              </a:rPr>
              <a:t>Résultats Analytiques Clés</a:t>
            </a:r>
            <a:endParaRPr lang="en-US" sz="2800" dirty="0"/>
          </a:p>
        </p:txBody>
      </p:sp>
      <p:sp>
        <p:nvSpPr>
          <p:cNvPr id="3" name="Text 1"/>
          <p:cNvSpPr/>
          <p:nvPr/>
        </p:nvSpPr>
        <p:spPr>
          <a:xfrm>
            <a:off x="548640" y="896112"/>
            <a:ext cx="11064240" cy="347472"/>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Chiffres vérifiés cohérents entre SQL, SSAS et Power BI</a:t>
            </a:r>
            <a:endParaRPr lang="en-US" sz="1300" dirty="0"/>
          </a:p>
        </p:txBody>
      </p:sp>
      <p:sp>
        <p:nvSpPr>
          <p:cNvPr id="4" name="Shape 2"/>
          <p:cNvSpPr/>
          <p:nvPr/>
        </p:nvSpPr>
        <p:spPr>
          <a:xfrm>
            <a:off x="548640" y="1737360"/>
            <a:ext cx="2697480" cy="1371600"/>
          </a:xfrm>
          <a:prstGeom prst="rect">
            <a:avLst/>
          </a:prstGeom>
          <a:solidFill>
            <a:srgbClr val="FFFFFF"/>
          </a:solidFill>
          <a:ln w="12700">
            <a:solidFill>
              <a:srgbClr val="D9D9D9"/>
            </a:solidFill>
            <a:prstDash val="solid"/>
          </a:ln>
        </p:spPr>
        <p:txBody>
          <a:bodyPr/>
          <a:lstStyle/>
          <a:p>
            <a:endParaRPr lang="fr-FR"/>
          </a:p>
        </p:txBody>
      </p:sp>
      <p:sp>
        <p:nvSpPr>
          <p:cNvPr id="5" name="Text 3"/>
          <p:cNvSpPr/>
          <p:nvPr/>
        </p:nvSpPr>
        <p:spPr>
          <a:xfrm>
            <a:off x="548640" y="1874520"/>
            <a:ext cx="2697480" cy="685800"/>
          </a:xfrm>
          <a:prstGeom prst="rect">
            <a:avLst/>
          </a:prstGeom>
          <a:noFill/>
          <a:ln/>
        </p:spPr>
        <p:txBody>
          <a:bodyPr wrap="square" rtlCol="0" anchor="ctr"/>
          <a:lstStyle/>
          <a:p>
            <a:pPr marL="0" indent="0" algn="ctr">
              <a:buNone/>
            </a:pPr>
            <a:r>
              <a:rPr lang="en-US" sz="2600" b="1" dirty="0">
                <a:solidFill>
                  <a:srgbClr val="185FA5"/>
                </a:solidFill>
                <a:latin typeface="Cambria" pitchFamily="34" charset="0"/>
                <a:ea typeface="Cambria" pitchFamily="34" charset="-122"/>
                <a:cs typeface="Cambria" pitchFamily="34" charset="-120"/>
              </a:rPr>
              <a:t>6 000</a:t>
            </a:r>
            <a:endParaRPr lang="en-US" sz="2600" dirty="0"/>
          </a:p>
        </p:txBody>
      </p:sp>
      <p:sp>
        <p:nvSpPr>
          <p:cNvPr id="6" name="Text 4"/>
          <p:cNvSpPr/>
          <p:nvPr/>
        </p:nvSpPr>
        <p:spPr>
          <a:xfrm>
            <a:off x="548640" y="2514600"/>
            <a:ext cx="2697480" cy="457200"/>
          </a:xfrm>
          <a:prstGeom prst="rect">
            <a:avLst/>
          </a:prstGeom>
          <a:noFill/>
          <a:ln/>
        </p:spPr>
        <p:txBody>
          <a:bodyPr wrap="square" rtlCol="0" anchor="ctr"/>
          <a:lstStyle/>
          <a:p>
            <a:pPr marL="0" indent="0" algn="ctr">
              <a:buNone/>
            </a:pPr>
            <a:r>
              <a:rPr lang="en-US" sz="1150" dirty="0">
                <a:solidFill>
                  <a:srgbClr val="5F5E5A"/>
                </a:solidFill>
                <a:latin typeface="Calibri" pitchFamily="34" charset="0"/>
                <a:ea typeface="Calibri" pitchFamily="34" charset="-122"/>
                <a:cs typeface="Calibri" pitchFamily="34" charset="-120"/>
              </a:rPr>
              <a:t>Hospitalisations chargées</a:t>
            </a:r>
            <a:endParaRPr lang="en-US" sz="1150" dirty="0"/>
          </a:p>
        </p:txBody>
      </p:sp>
      <p:sp>
        <p:nvSpPr>
          <p:cNvPr id="7" name="Shape 5"/>
          <p:cNvSpPr/>
          <p:nvPr/>
        </p:nvSpPr>
        <p:spPr>
          <a:xfrm>
            <a:off x="3383280" y="1737360"/>
            <a:ext cx="2697480" cy="1371600"/>
          </a:xfrm>
          <a:prstGeom prst="rect">
            <a:avLst/>
          </a:prstGeom>
          <a:solidFill>
            <a:srgbClr val="FFFFFF"/>
          </a:solidFill>
          <a:ln w="12700">
            <a:solidFill>
              <a:srgbClr val="D9D9D9"/>
            </a:solidFill>
            <a:prstDash val="solid"/>
          </a:ln>
        </p:spPr>
        <p:txBody>
          <a:bodyPr/>
          <a:lstStyle/>
          <a:p>
            <a:endParaRPr lang="fr-FR"/>
          </a:p>
        </p:txBody>
      </p:sp>
      <p:sp>
        <p:nvSpPr>
          <p:cNvPr id="8" name="Text 6"/>
          <p:cNvSpPr/>
          <p:nvPr/>
        </p:nvSpPr>
        <p:spPr>
          <a:xfrm>
            <a:off x="3383280" y="1874520"/>
            <a:ext cx="2697480" cy="685800"/>
          </a:xfrm>
          <a:prstGeom prst="rect">
            <a:avLst/>
          </a:prstGeom>
          <a:noFill/>
          <a:ln/>
        </p:spPr>
        <p:txBody>
          <a:bodyPr wrap="square" rtlCol="0" anchor="ctr"/>
          <a:lstStyle/>
          <a:p>
            <a:pPr marL="0" indent="0" algn="ctr">
              <a:buNone/>
            </a:pPr>
            <a:r>
              <a:rPr lang="en-US" sz="2600" b="1" dirty="0">
                <a:solidFill>
                  <a:srgbClr val="0F6E56"/>
                </a:solidFill>
                <a:latin typeface="Cambria" pitchFamily="34" charset="0"/>
                <a:ea typeface="Cambria" pitchFamily="34" charset="-122"/>
                <a:cs typeface="Cambria" pitchFamily="34" charset="-120"/>
              </a:rPr>
              <a:t>4,5 j</a:t>
            </a:r>
            <a:endParaRPr lang="en-US" sz="2600" dirty="0"/>
          </a:p>
        </p:txBody>
      </p:sp>
      <p:sp>
        <p:nvSpPr>
          <p:cNvPr id="9" name="Text 7"/>
          <p:cNvSpPr/>
          <p:nvPr/>
        </p:nvSpPr>
        <p:spPr>
          <a:xfrm>
            <a:off x="3383280" y="2514600"/>
            <a:ext cx="2697480" cy="457200"/>
          </a:xfrm>
          <a:prstGeom prst="rect">
            <a:avLst/>
          </a:prstGeom>
          <a:noFill/>
          <a:ln/>
        </p:spPr>
        <p:txBody>
          <a:bodyPr wrap="square" rtlCol="0" anchor="ctr"/>
          <a:lstStyle/>
          <a:p>
            <a:pPr marL="0" indent="0" algn="ctr">
              <a:buNone/>
            </a:pPr>
            <a:r>
              <a:rPr lang="en-US" sz="1150" dirty="0">
                <a:solidFill>
                  <a:srgbClr val="5F5E5A"/>
                </a:solidFill>
                <a:latin typeface="Calibri" pitchFamily="34" charset="0"/>
                <a:ea typeface="Calibri" pitchFamily="34" charset="-122"/>
                <a:cs typeface="Calibri" pitchFamily="34" charset="-120"/>
              </a:rPr>
              <a:t>Durée moyenne de séjour</a:t>
            </a:r>
            <a:endParaRPr lang="en-US" sz="1150" dirty="0"/>
          </a:p>
        </p:txBody>
      </p:sp>
      <p:sp>
        <p:nvSpPr>
          <p:cNvPr id="10" name="Shape 8"/>
          <p:cNvSpPr/>
          <p:nvPr/>
        </p:nvSpPr>
        <p:spPr>
          <a:xfrm>
            <a:off x="6217920" y="1737360"/>
            <a:ext cx="2697480" cy="1371600"/>
          </a:xfrm>
          <a:prstGeom prst="rect">
            <a:avLst/>
          </a:prstGeom>
          <a:solidFill>
            <a:srgbClr val="FFFFFF"/>
          </a:solidFill>
          <a:ln w="12700">
            <a:solidFill>
              <a:srgbClr val="D9D9D9"/>
            </a:solidFill>
            <a:prstDash val="solid"/>
          </a:ln>
        </p:spPr>
        <p:txBody>
          <a:bodyPr/>
          <a:lstStyle/>
          <a:p>
            <a:endParaRPr lang="fr-FR"/>
          </a:p>
        </p:txBody>
      </p:sp>
      <p:sp>
        <p:nvSpPr>
          <p:cNvPr id="11" name="Text 9"/>
          <p:cNvSpPr/>
          <p:nvPr/>
        </p:nvSpPr>
        <p:spPr>
          <a:xfrm>
            <a:off x="6217920" y="1874520"/>
            <a:ext cx="2697480" cy="685800"/>
          </a:xfrm>
          <a:prstGeom prst="rect">
            <a:avLst/>
          </a:prstGeom>
          <a:noFill/>
          <a:ln/>
        </p:spPr>
        <p:txBody>
          <a:bodyPr wrap="square" rtlCol="0" anchor="ctr"/>
          <a:lstStyle/>
          <a:p>
            <a:pPr marL="0" indent="0" algn="ctr">
              <a:buNone/>
            </a:pPr>
            <a:r>
              <a:rPr lang="en-US" sz="2600" b="1" dirty="0">
                <a:solidFill>
                  <a:srgbClr val="185FA5"/>
                </a:solidFill>
                <a:latin typeface="Cambria" pitchFamily="34" charset="0"/>
                <a:ea typeface="Cambria" pitchFamily="34" charset="-122"/>
                <a:cs typeface="Cambria" pitchFamily="34" charset="-120"/>
              </a:rPr>
              <a:t>5,65 %</a:t>
            </a:r>
            <a:endParaRPr lang="en-US" sz="2600" dirty="0"/>
          </a:p>
        </p:txBody>
      </p:sp>
      <p:sp>
        <p:nvSpPr>
          <p:cNvPr id="12" name="Text 10"/>
          <p:cNvSpPr/>
          <p:nvPr/>
        </p:nvSpPr>
        <p:spPr>
          <a:xfrm>
            <a:off x="6217920" y="2514600"/>
            <a:ext cx="2697480" cy="457200"/>
          </a:xfrm>
          <a:prstGeom prst="rect">
            <a:avLst/>
          </a:prstGeom>
          <a:noFill/>
          <a:ln/>
        </p:spPr>
        <p:txBody>
          <a:bodyPr wrap="square" rtlCol="0" anchor="ctr"/>
          <a:lstStyle/>
          <a:p>
            <a:pPr marL="0" indent="0" algn="ctr">
              <a:buNone/>
            </a:pPr>
            <a:r>
              <a:rPr lang="en-US" sz="1150" dirty="0">
                <a:solidFill>
                  <a:srgbClr val="5F5E5A"/>
                </a:solidFill>
                <a:latin typeface="Calibri" pitchFamily="34" charset="0"/>
                <a:ea typeface="Calibri" pitchFamily="34" charset="-122"/>
                <a:cs typeface="Calibri" pitchFamily="34" charset="-120"/>
              </a:rPr>
              <a:t>Taux de réadmission 30j</a:t>
            </a:r>
            <a:endParaRPr lang="en-US" sz="1150" dirty="0"/>
          </a:p>
        </p:txBody>
      </p:sp>
      <p:sp>
        <p:nvSpPr>
          <p:cNvPr id="13" name="Shape 11"/>
          <p:cNvSpPr/>
          <p:nvPr/>
        </p:nvSpPr>
        <p:spPr>
          <a:xfrm>
            <a:off x="9052560" y="1737360"/>
            <a:ext cx="2697480" cy="1371600"/>
          </a:xfrm>
          <a:prstGeom prst="rect">
            <a:avLst/>
          </a:prstGeom>
          <a:solidFill>
            <a:srgbClr val="FFFFFF"/>
          </a:solidFill>
          <a:ln w="12700">
            <a:solidFill>
              <a:srgbClr val="D9D9D9"/>
            </a:solidFill>
            <a:prstDash val="solid"/>
          </a:ln>
        </p:spPr>
        <p:txBody>
          <a:bodyPr/>
          <a:lstStyle/>
          <a:p>
            <a:endParaRPr lang="fr-FR"/>
          </a:p>
        </p:txBody>
      </p:sp>
      <p:sp>
        <p:nvSpPr>
          <p:cNvPr id="14" name="Text 12"/>
          <p:cNvSpPr/>
          <p:nvPr/>
        </p:nvSpPr>
        <p:spPr>
          <a:xfrm>
            <a:off x="9052560" y="1874520"/>
            <a:ext cx="2697480" cy="685800"/>
          </a:xfrm>
          <a:prstGeom prst="rect">
            <a:avLst/>
          </a:prstGeom>
          <a:noFill/>
          <a:ln/>
        </p:spPr>
        <p:txBody>
          <a:bodyPr wrap="square" rtlCol="0" anchor="ctr"/>
          <a:lstStyle/>
          <a:p>
            <a:pPr marL="0" indent="0" algn="ctr">
              <a:buNone/>
            </a:pPr>
            <a:r>
              <a:rPr lang="en-US" sz="2600" b="1" dirty="0">
                <a:solidFill>
                  <a:srgbClr val="C0392B"/>
                </a:solidFill>
                <a:latin typeface="Cambria" pitchFamily="34" charset="0"/>
                <a:ea typeface="Cambria" pitchFamily="34" charset="-122"/>
                <a:cs typeface="Cambria" pitchFamily="34" charset="-120"/>
              </a:rPr>
              <a:t>2,3 %</a:t>
            </a:r>
            <a:endParaRPr lang="en-US" sz="2600" dirty="0"/>
          </a:p>
        </p:txBody>
      </p:sp>
      <p:sp>
        <p:nvSpPr>
          <p:cNvPr id="15" name="Text 13"/>
          <p:cNvSpPr/>
          <p:nvPr/>
        </p:nvSpPr>
        <p:spPr>
          <a:xfrm>
            <a:off x="9052560" y="2514600"/>
            <a:ext cx="2697480" cy="457200"/>
          </a:xfrm>
          <a:prstGeom prst="rect">
            <a:avLst/>
          </a:prstGeom>
          <a:noFill/>
          <a:ln/>
        </p:spPr>
        <p:txBody>
          <a:bodyPr wrap="square" rtlCol="0" anchor="ctr"/>
          <a:lstStyle/>
          <a:p>
            <a:pPr marL="0" indent="0" algn="ctr">
              <a:buNone/>
            </a:pPr>
            <a:r>
              <a:rPr lang="en-US" sz="1150" dirty="0">
                <a:solidFill>
                  <a:srgbClr val="5F5E5A"/>
                </a:solidFill>
                <a:latin typeface="Calibri" pitchFamily="34" charset="0"/>
                <a:ea typeface="Calibri" pitchFamily="34" charset="-122"/>
                <a:cs typeface="Calibri" pitchFamily="34" charset="-120"/>
              </a:rPr>
              <a:t>Taux de mortalité</a:t>
            </a:r>
            <a:endParaRPr lang="en-US" sz="1150" dirty="0"/>
          </a:p>
        </p:txBody>
      </p:sp>
      <p:sp>
        <p:nvSpPr>
          <p:cNvPr id="16" name="Shape 14"/>
          <p:cNvSpPr/>
          <p:nvPr/>
        </p:nvSpPr>
        <p:spPr>
          <a:xfrm>
            <a:off x="548640" y="3383280"/>
            <a:ext cx="11064240" cy="2651760"/>
          </a:xfrm>
          <a:prstGeom prst="rect">
            <a:avLst/>
          </a:prstGeom>
          <a:solidFill>
            <a:srgbClr val="F0F4F8"/>
          </a:solidFill>
          <a:ln w="12700">
            <a:solidFill>
              <a:srgbClr val="D9D9D9"/>
            </a:solidFill>
            <a:prstDash val="solid"/>
          </a:ln>
        </p:spPr>
        <p:txBody>
          <a:bodyPr/>
          <a:lstStyle/>
          <a:p>
            <a:endParaRPr lang="fr-FR"/>
          </a:p>
        </p:txBody>
      </p:sp>
      <p:sp>
        <p:nvSpPr>
          <p:cNvPr id="17" name="Text 15"/>
          <p:cNvSpPr/>
          <p:nvPr/>
        </p:nvSpPr>
        <p:spPr>
          <a:xfrm>
            <a:off x="822960" y="3566160"/>
            <a:ext cx="10515600" cy="365760"/>
          </a:xfrm>
          <a:prstGeom prst="rect">
            <a:avLst/>
          </a:prstGeom>
          <a:noFill/>
          <a:ln/>
        </p:spPr>
        <p:txBody>
          <a:bodyPr wrap="square" rtlCol="0" anchor="ctr"/>
          <a:lstStyle/>
          <a:p>
            <a:pPr marL="0" indent="0">
              <a:buNone/>
            </a:pPr>
            <a:r>
              <a:rPr lang="en-US" sz="1500" b="1" dirty="0">
                <a:solidFill>
                  <a:srgbClr val="0E2A45"/>
                </a:solidFill>
                <a:latin typeface="Cambria" pitchFamily="34" charset="0"/>
                <a:ea typeface="Cambria" pitchFamily="34" charset="-122"/>
                <a:cs typeface="Cambria" pitchFamily="34" charset="-120"/>
              </a:rPr>
              <a:t>Validation de bout en bout</a:t>
            </a:r>
            <a:endParaRPr lang="en-US" sz="1500" dirty="0"/>
          </a:p>
        </p:txBody>
      </p:sp>
      <p:sp>
        <p:nvSpPr>
          <p:cNvPr id="18" name="Text 16"/>
          <p:cNvSpPr/>
          <p:nvPr/>
        </p:nvSpPr>
        <p:spPr>
          <a:xfrm>
            <a:off x="822960" y="3977640"/>
            <a:ext cx="10515600" cy="1920240"/>
          </a:xfrm>
          <a:prstGeom prst="rect">
            <a:avLst/>
          </a:prstGeom>
          <a:noFill/>
          <a:ln/>
        </p:spPr>
        <p:txBody>
          <a:bodyPr wrap="square" rtlCol="0" anchor="ctr"/>
          <a:lstStyle/>
          <a:p>
            <a:pPr marL="0" indent="0">
              <a:lnSpc>
                <a:spcPct val="130000"/>
              </a:lnSpc>
              <a:buNone/>
            </a:pPr>
            <a:r>
              <a:rPr lang="en-US" sz="1300" dirty="0">
                <a:solidFill>
                  <a:srgbClr val="333333"/>
                </a:solidFill>
                <a:latin typeface="Calibri" pitchFamily="34" charset="0"/>
                <a:ea typeface="Calibri" pitchFamily="34" charset="-122"/>
                <a:cs typeface="Calibri" pitchFamily="34" charset="-120"/>
              </a:rPr>
              <a:t>Les chiffres ci-dessus ont été vérifiés cohérents à trois niveaux indépendants : requêtes SQL directes (SSMS), Navigateur du cube SSAS, et cartes/visuels Power BI — confirmant l'intégrité complète du pipeline Bronze → Silver → Gold → Cube → Dashboard, de bout en bout.</a:t>
            </a:r>
            <a:endParaRPr lang="en-US" sz="1300" dirty="0"/>
          </a:p>
          <a:p>
            <a:pPr marL="0" indent="0">
              <a:lnSpc>
                <a:spcPct val="130000"/>
              </a:lnSpc>
              <a:buNone/>
            </a:pPr>
            <a:endParaRPr lang="en-US" sz="1300" dirty="0"/>
          </a:p>
          <a:p>
            <a:pPr marL="0" indent="0">
              <a:lnSpc>
                <a:spcPct val="130000"/>
              </a:lnSpc>
              <a:buNone/>
            </a:pPr>
            <a:r>
              <a:rPr lang="en-US" sz="1300" dirty="0">
                <a:solidFill>
                  <a:srgbClr val="333333"/>
                </a:solidFill>
                <a:latin typeface="Calibri" pitchFamily="34" charset="0"/>
                <a:ea typeface="Calibri" pitchFamily="34" charset="-122"/>
                <a:cs typeface="Calibri" pitchFamily="34" charset="-120"/>
              </a:rPr>
              <a:t>136 décès et 339 réadmissions comptabilisés sur les 6 000 hospitalisations, répartis sur 9 centres et 14 services.</a:t>
            </a:r>
            <a:endParaRPr lang="en-US" sz="1300" dirty="0"/>
          </a:p>
        </p:txBody>
      </p:sp>
      <p:sp>
        <p:nvSpPr>
          <p:cNvPr id="19" name="Text 17"/>
          <p:cNvSpPr/>
          <p:nvPr/>
        </p:nvSpPr>
        <p:spPr>
          <a:xfrm>
            <a:off x="457200" y="6519672"/>
            <a:ext cx="5486400" cy="256032"/>
          </a:xfrm>
          <a:prstGeom prst="rect">
            <a:avLst/>
          </a:prstGeom>
          <a:noFill/>
          <a:ln/>
        </p:spPr>
        <p:txBody>
          <a:bodyPr wrap="square" rtlCol="0" anchor="ctr"/>
          <a:lstStyle/>
          <a:p>
            <a:pPr marL="0" indent="0">
              <a:buNone/>
            </a:pPr>
            <a:r>
              <a:rPr lang="en-US" sz="1000" dirty="0">
                <a:solidFill>
                  <a:srgbClr val="5F5E5A"/>
                </a:solidFill>
                <a:latin typeface="Calibri" pitchFamily="34" charset="0"/>
                <a:ea typeface="Calibri" pitchFamily="34" charset="-122"/>
                <a:cs typeface="Calibri" pitchFamily="34" charset="-120"/>
              </a:rPr>
              <a:t>9. Résultats</a:t>
            </a:r>
            <a:endParaRPr lang="en-US" sz="1000" dirty="0"/>
          </a:p>
        </p:txBody>
      </p:sp>
      <p:sp>
        <p:nvSpPr>
          <p:cNvPr id="20" name="Text 18"/>
          <p:cNvSpPr/>
          <p:nvPr/>
        </p:nvSpPr>
        <p:spPr>
          <a:xfrm>
            <a:off x="6675120" y="6519672"/>
            <a:ext cx="5029200" cy="256032"/>
          </a:xfrm>
          <a:prstGeom prst="rect">
            <a:avLst/>
          </a:prstGeom>
          <a:noFill/>
          <a:ln/>
        </p:spPr>
        <p:txBody>
          <a:bodyPr wrap="square" rtlCol="0" anchor="ctr"/>
          <a:lstStyle/>
          <a:p>
            <a:pPr marL="0" indent="0" algn="r">
              <a:buNone/>
            </a:pPr>
            <a:r>
              <a:rPr lang="en-US" sz="1000" dirty="0">
                <a:solidFill>
                  <a:srgbClr val="5F5E5A"/>
                </a:solidFill>
                <a:latin typeface="Calibri" pitchFamily="34" charset="0"/>
                <a:ea typeface="Calibri" pitchFamily="34" charset="-122"/>
                <a:cs typeface="Calibri" pitchFamily="34" charset="-120"/>
              </a:rPr>
              <a:t>CHU Ibn Sina — Plateforme BI Hospitalisation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7">
    <p:bg>
      <p:bgPr>
        <a:solidFill>
          <a:srgbClr val="0E2A45"/>
        </a:solidFill>
        <a:effectLst/>
      </p:bgPr>
    </p:bg>
    <p:spTree>
      <p:nvGrpSpPr>
        <p:cNvPr id="1" name=""/>
        <p:cNvGrpSpPr/>
        <p:nvPr/>
      </p:nvGrpSpPr>
      <p:grpSpPr>
        <a:xfrm>
          <a:off x="0" y="0"/>
          <a:ext cx="0" cy="0"/>
          <a:chOff x="0" y="0"/>
          <a:chExt cx="0" cy="0"/>
        </a:xfrm>
      </p:grpSpPr>
      <p:sp>
        <p:nvSpPr>
          <p:cNvPr id="2" name="Shape 0"/>
          <p:cNvSpPr/>
          <p:nvPr/>
        </p:nvSpPr>
        <p:spPr>
          <a:xfrm>
            <a:off x="10241280" y="-1371600"/>
            <a:ext cx="3657600" cy="3657600"/>
          </a:xfrm>
          <a:prstGeom prst="ellipse">
            <a:avLst/>
          </a:prstGeom>
          <a:solidFill>
            <a:srgbClr val="133A5C"/>
          </a:solidFill>
          <a:ln/>
        </p:spPr>
        <p:txBody>
          <a:bodyPr/>
          <a:lstStyle/>
          <a:p>
            <a:endParaRPr lang="fr-FR"/>
          </a:p>
        </p:txBody>
      </p:sp>
      <p:sp>
        <p:nvSpPr>
          <p:cNvPr id="3" name="Shape 1"/>
          <p:cNvSpPr/>
          <p:nvPr/>
        </p:nvSpPr>
        <p:spPr>
          <a:xfrm>
            <a:off x="-1463040" y="5303520"/>
            <a:ext cx="3108960" cy="3108960"/>
          </a:xfrm>
          <a:prstGeom prst="ellipse">
            <a:avLst/>
          </a:prstGeom>
          <a:solidFill>
            <a:srgbClr val="0F6E56">
              <a:alpha val="45000"/>
            </a:srgbClr>
          </a:solidFill>
          <a:ln/>
        </p:spPr>
        <p:txBody>
          <a:bodyPr/>
          <a:lstStyle/>
          <a:p>
            <a:endParaRPr lang="fr-FR"/>
          </a:p>
        </p:txBody>
      </p:sp>
      <p:sp>
        <p:nvSpPr>
          <p:cNvPr id="4" name="Text 2"/>
          <p:cNvSpPr/>
          <p:nvPr/>
        </p:nvSpPr>
        <p:spPr>
          <a:xfrm>
            <a:off x="548640" y="502920"/>
            <a:ext cx="109728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 &amp; Perspectives</a:t>
            </a:r>
            <a:endParaRPr lang="en-US" sz="3200" dirty="0"/>
          </a:p>
        </p:txBody>
      </p:sp>
      <p:sp>
        <p:nvSpPr>
          <p:cNvPr id="5" name="Text 3"/>
          <p:cNvSpPr/>
          <p:nvPr/>
        </p:nvSpPr>
        <p:spPr>
          <a:xfrm>
            <a:off x="548640" y="1417320"/>
            <a:ext cx="5303520" cy="365760"/>
          </a:xfrm>
          <a:prstGeom prst="rect">
            <a:avLst/>
          </a:prstGeom>
          <a:noFill/>
          <a:ln/>
        </p:spPr>
        <p:txBody>
          <a:bodyPr wrap="square" rtlCol="0" anchor="ctr"/>
          <a:lstStyle/>
          <a:p>
            <a:pPr marL="0" indent="0">
              <a:buNone/>
            </a:pPr>
            <a:r>
              <a:rPr lang="en-US" sz="1600" b="1" dirty="0">
                <a:solidFill>
                  <a:srgbClr val="9FC0E0"/>
                </a:solidFill>
                <a:latin typeface="Cambria" pitchFamily="34" charset="0"/>
                <a:ea typeface="Cambria" pitchFamily="34" charset="-122"/>
                <a:cs typeface="Cambria" pitchFamily="34" charset="-120"/>
              </a:rPr>
              <a:t>Bilan du projet</a:t>
            </a:r>
            <a:endParaRPr lang="en-US" sz="1600" dirty="0"/>
          </a:p>
        </p:txBody>
      </p:sp>
      <p:sp>
        <p:nvSpPr>
          <p:cNvPr id="6" name="Text 4"/>
          <p:cNvSpPr/>
          <p:nvPr/>
        </p:nvSpPr>
        <p:spPr>
          <a:xfrm>
            <a:off x="548640" y="1874520"/>
            <a:ext cx="5303520" cy="2743200"/>
          </a:xfrm>
          <a:prstGeom prst="rect">
            <a:avLst/>
          </a:prstGeom>
          <a:noFill/>
          <a:ln/>
        </p:spPr>
        <p:txBody>
          <a:bodyPr wrap="square" rtlCol="0" anchor="ctr"/>
          <a:lstStyle/>
          <a:p>
            <a:pPr marL="0" indent="0">
              <a:spcAft>
                <a:spcPts val="1200"/>
              </a:spcAft>
              <a:buNone/>
            </a:pPr>
            <a:r>
              <a:rPr lang="en-US" sz="1300" dirty="0">
                <a:solidFill>
                  <a:srgbClr val="FFFFFF"/>
                </a:solidFill>
                <a:latin typeface="Calibri" pitchFamily="34" charset="0"/>
                <a:ea typeface="Calibri" pitchFamily="34" charset="-122"/>
                <a:cs typeface="Calibri" pitchFamily="34" charset="-120"/>
              </a:rPr>
              <a:t>✓  Architecture Medallion sur SQL Server — Terminé</a:t>
            </a:r>
            <a:endParaRPr lang="en-US" sz="1300" dirty="0"/>
          </a:p>
          <a:p>
            <a:pPr marL="0" indent="0">
              <a:spcAft>
                <a:spcPts val="1200"/>
              </a:spcAft>
              <a:buNone/>
            </a:pPr>
            <a:r>
              <a:rPr lang="en-US" sz="1300" dirty="0">
                <a:solidFill>
                  <a:srgbClr val="FFFFFF"/>
                </a:solidFill>
                <a:latin typeface="Calibri" pitchFamily="34" charset="0"/>
                <a:ea typeface="Calibri" pitchFamily="34" charset="-122"/>
                <a:cs typeface="Calibri" pitchFamily="34" charset="-120"/>
              </a:rPr>
              <a:t>✓  Chargement CSV (confidentialité) — Terminé</a:t>
            </a:r>
            <a:endParaRPr lang="en-US" sz="1300" dirty="0"/>
          </a:p>
          <a:p>
            <a:pPr marL="0" indent="0">
              <a:spcAft>
                <a:spcPts val="1200"/>
              </a:spcAft>
              <a:buNone/>
            </a:pPr>
            <a:r>
              <a:rPr lang="en-US" sz="1300" dirty="0">
                <a:solidFill>
                  <a:srgbClr val="FFFFFF"/>
                </a:solidFill>
                <a:latin typeface="Calibri" pitchFamily="34" charset="0"/>
                <a:ea typeface="Calibri" pitchFamily="34" charset="-122"/>
                <a:cs typeface="Calibri" pitchFamily="34" charset="-120"/>
              </a:rPr>
              <a:t>✓  ETL SSIS avec Lookups — Terminé, débogué</a:t>
            </a:r>
            <a:endParaRPr lang="en-US" sz="1300" dirty="0"/>
          </a:p>
          <a:p>
            <a:pPr marL="0" indent="0">
              <a:spcAft>
                <a:spcPts val="1200"/>
              </a:spcAft>
              <a:buNone/>
            </a:pPr>
            <a:r>
              <a:rPr lang="en-US" sz="1300" dirty="0">
                <a:solidFill>
                  <a:srgbClr val="FFFFFF"/>
                </a:solidFill>
                <a:latin typeface="Calibri" pitchFamily="34" charset="0"/>
                <a:ea typeface="Calibri" pitchFamily="34" charset="-122"/>
                <a:cs typeface="Calibri" pitchFamily="34" charset="-120"/>
              </a:rPr>
              <a:t>✓  Cube SSAS : mesures + KPIs — Terminé, débogué</a:t>
            </a:r>
            <a:endParaRPr lang="en-US" sz="1300" dirty="0"/>
          </a:p>
          <a:p>
            <a:pPr marL="0" indent="0">
              <a:spcAft>
                <a:spcPts val="1200"/>
              </a:spcAft>
              <a:buNone/>
            </a:pPr>
            <a:r>
              <a:rPr lang="en-US" sz="1300" dirty="0">
                <a:solidFill>
                  <a:srgbClr val="FFFFFF"/>
                </a:solidFill>
                <a:latin typeface="Calibri" pitchFamily="34" charset="0"/>
                <a:ea typeface="Calibri" pitchFamily="34" charset="-122"/>
                <a:cs typeface="Calibri" pitchFamily="34" charset="-120"/>
              </a:rPr>
              <a:t>✓  Power BI : 5 dashboards Live Connection — Terminé</a:t>
            </a:r>
            <a:endParaRPr lang="en-US" sz="1300" dirty="0"/>
          </a:p>
        </p:txBody>
      </p:sp>
      <p:sp>
        <p:nvSpPr>
          <p:cNvPr id="7" name="Text 5"/>
          <p:cNvSpPr/>
          <p:nvPr/>
        </p:nvSpPr>
        <p:spPr>
          <a:xfrm>
            <a:off x="6309360" y="1417320"/>
            <a:ext cx="5303520" cy="365760"/>
          </a:xfrm>
          <a:prstGeom prst="rect">
            <a:avLst/>
          </a:prstGeom>
          <a:noFill/>
          <a:ln/>
        </p:spPr>
        <p:txBody>
          <a:bodyPr wrap="square" rtlCol="0" anchor="ctr"/>
          <a:lstStyle/>
          <a:p>
            <a:pPr marL="0" indent="0">
              <a:buNone/>
            </a:pPr>
            <a:r>
              <a:rPr lang="en-US" sz="1600" b="1" dirty="0">
                <a:solidFill>
                  <a:srgbClr val="9FC0E0"/>
                </a:solidFill>
                <a:latin typeface="Cambria" pitchFamily="34" charset="0"/>
                <a:ea typeface="Cambria" pitchFamily="34" charset="-122"/>
                <a:cs typeface="Cambria" pitchFamily="34" charset="-120"/>
              </a:rPr>
              <a:t>Perspectives</a:t>
            </a:r>
            <a:endParaRPr lang="en-US" sz="1600" dirty="0"/>
          </a:p>
        </p:txBody>
      </p:sp>
      <p:sp>
        <p:nvSpPr>
          <p:cNvPr id="8" name="Text 6"/>
          <p:cNvSpPr/>
          <p:nvPr/>
        </p:nvSpPr>
        <p:spPr>
          <a:xfrm>
            <a:off x="6309360" y="1874520"/>
            <a:ext cx="5303520" cy="2743200"/>
          </a:xfrm>
          <a:prstGeom prst="rect">
            <a:avLst/>
          </a:prstGeom>
          <a:noFill/>
          <a:ln/>
        </p:spPr>
        <p:txBody>
          <a:bodyPr wrap="square" rtlCol="0" anchor="ctr"/>
          <a:lstStyle/>
          <a:p>
            <a:pPr marL="0" indent="0">
              <a:spcAft>
                <a:spcPts val="1200"/>
              </a:spcAft>
              <a:buNone/>
            </a:pPr>
            <a:r>
              <a:rPr lang="en-US" sz="1300" dirty="0">
                <a:solidFill>
                  <a:srgbClr val="FFFFFF"/>
                </a:solidFill>
                <a:latin typeface="Calibri" pitchFamily="34" charset="0"/>
                <a:ea typeface="Calibri" pitchFamily="34" charset="-122"/>
                <a:cs typeface="Calibri" pitchFamily="34" charset="-120"/>
              </a:rPr>
              <a:t>→  Charger le volume complet (245 310 lignes)</a:t>
            </a:r>
            <a:endParaRPr lang="en-US" sz="1300" dirty="0"/>
          </a:p>
          <a:p>
            <a:pPr marL="0" indent="0">
              <a:spcAft>
                <a:spcPts val="1200"/>
              </a:spcAft>
              <a:buNone/>
            </a:pPr>
            <a:r>
              <a:rPr lang="en-US" sz="1300" dirty="0">
                <a:solidFill>
                  <a:srgbClr val="FFFFFF"/>
                </a:solidFill>
                <a:latin typeface="Calibri" pitchFamily="34" charset="0"/>
                <a:ea typeface="Calibri" pitchFamily="34" charset="-122"/>
                <a:cs typeface="Calibri" pitchFamily="34" charset="-120"/>
              </a:rPr>
              <a:t>→  Automatisation ETL via SQL Server Agent</a:t>
            </a:r>
            <a:endParaRPr lang="en-US" sz="1300" dirty="0"/>
          </a:p>
          <a:p>
            <a:pPr marL="0" indent="0">
              <a:spcAft>
                <a:spcPts val="1200"/>
              </a:spcAft>
              <a:buNone/>
            </a:pPr>
            <a:r>
              <a:rPr lang="en-US" sz="1300" dirty="0">
                <a:solidFill>
                  <a:srgbClr val="FFFFFF"/>
                </a:solidFill>
                <a:latin typeface="Calibri" pitchFamily="34" charset="0"/>
                <a:ea typeface="Calibri" pitchFamily="34" charset="-122"/>
                <a:cs typeface="Calibri" pitchFamily="34" charset="-120"/>
              </a:rPr>
              <a:t>→  Ajout de DIM_Diagnostic (codes CIM-10)</a:t>
            </a:r>
            <a:endParaRPr lang="en-US" sz="1300" dirty="0"/>
          </a:p>
          <a:p>
            <a:pPr marL="0" indent="0">
              <a:spcAft>
                <a:spcPts val="1200"/>
              </a:spcAft>
              <a:buNone/>
            </a:pPr>
            <a:r>
              <a:rPr lang="en-US" sz="1300" dirty="0">
                <a:solidFill>
                  <a:srgbClr val="FFFFFF"/>
                </a:solidFill>
                <a:latin typeface="Calibri" pitchFamily="34" charset="0"/>
                <a:ea typeface="Calibri" pitchFamily="34" charset="-122"/>
                <a:cs typeface="Calibri" pitchFamily="34" charset="-120"/>
              </a:rPr>
              <a:t>→  Publication Power BI Service (accès web)</a:t>
            </a:r>
            <a:endParaRPr lang="en-US" sz="1300" dirty="0"/>
          </a:p>
          <a:p>
            <a:pPr marL="0" indent="0">
              <a:spcAft>
                <a:spcPts val="1200"/>
              </a:spcAft>
              <a:buNone/>
            </a:pPr>
            <a:r>
              <a:rPr lang="en-US" sz="1300" dirty="0">
                <a:solidFill>
                  <a:srgbClr val="FFFFFF"/>
                </a:solidFill>
                <a:latin typeface="Calibri" pitchFamily="34" charset="0"/>
                <a:ea typeface="Calibri" pitchFamily="34" charset="-122"/>
                <a:cs typeface="Calibri" pitchFamily="34" charset="-120"/>
              </a:rPr>
              <a:t>→  Alertes automatiques sur seuil d'occupation</a:t>
            </a:r>
            <a:endParaRPr lang="en-US" sz="1300" dirty="0"/>
          </a:p>
        </p:txBody>
      </p:sp>
      <p:sp>
        <p:nvSpPr>
          <p:cNvPr id="9" name="Shape 7"/>
          <p:cNvSpPr/>
          <p:nvPr/>
        </p:nvSpPr>
        <p:spPr>
          <a:xfrm>
            <a:off x="548640" y="4892040"/>
            <a:ext cx="11064240" cy="1234440"/>
          </a:xfrm>
          <a:prstGeom prst="roundRect">
            <a:avLst>
              <a:gd name="adj" fmla="val 5926"/>
            </a:avLst>
          </a:prstGeom>
          <a:solidFill>
            <a:srgbClr val="133A5C"/>
          </a:solidFill>
          <a:ln/>
        </p:spPr>
        <p:txBody>
          <a:bodyPr/>
          <a:lstStyle/>
          <a:p>
            <a:endParaRPr lang="fr-FR"/>
          </a:p>
        </p:txBody>
      </p:sp>
      <p:sp>
        <p:nvSpPr>
          <p:cNvPr id="10" name="Text 8"/>
          <p:cNvSpPr/>
          <p:nvPr/>
        </p:nvSpPr>
        <p:spPr>
          <a:xfrm>
            <a:off x="868680" y="4983480"/>
            <a:ext cx="10515600" cy="1051560"/>
          </a:xfrm>
          <a:prstGeom prst="rect">
            <a:avLst/>
          </a:prstGeom>
          <a:noFill/>
          <a:ln/>
        </p:spPr>
        <p:txBody>
          <a:bodyPr wrap="square" rtlCol="0" anchor="ctr"/>
          <a:lstStyle/>
          <a:p>
            <a:pPr marL="0" indent="0" algn="ctr">
              <a:buNone/>
            </a:pPr>
            <a:r>
              <a:rPr lang="en-US" sz="1500" i="1" dirty="0">
                <a:solidFill>
                  <a:srgbClr val="FFFFFF"/>
                </a:solidFill>
                <a:latin typeface="Cambria" pitchFamily="34" charset="0"/>
                <a:ea typeface="Cambria" pitchFamily="34" charset="-122"/>
                <a:cs typeface="Cambria" pitchFamily="34" charset="-120"/>
              </a:rPr>
              <a:t>« Un pipeline décisionnel complet, construit et débogué de bout en bout — de l'import CSV jusqu'au dashboard Power BI. »</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D1A573E-6267-2064-CF77-6230C8C6758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82F1C3C-F25F-0120-FA8F-4FA68EB9677C}"/>
              </a:ext>
            </a:extLst>
          </p:cNvPr>
          <p:cNvSpPr/>
          <p:nvPr/>
        </p:nvSpPr>
        <p:spPr>
          <a:xfrm>
            <a:off x="9692640" y="-1097280"/>
            <a:ext cx="4114800" cy="4114800"/>
          </a:xfrm>
          <a:prstGeom prst="ellipse">
            <a:avLst/>
          </a:prstGeom>
          <a:solidFill>
            <a:srgbClr val="185FA5">
              <a:alpha val="7000"/>
            </a:srgbClr>
          </a:solidFill>
          <a:ln/>
        </p:spPr>
        <p:txBody>
          <a:bodyPr/>
          <a:lstStyle/>
          <a:p>
            <a:endParaRPr lang="fr-FR"/>
          </a:p>
        </p:txBody>
      </p:sp>
      <p:sp>
        <p:nvSpPr>
          <p:cNvPr id="3" name="Shape 1">
            <a:extLst>
              <a:ext uri="{FF2B5EF4-FFF2-40B4-BE49-F238E27FC236}">
                <a16:creationId xmlns:a16="http://schemas.microsoft.com/office/drawing/2014/main" id="{4213E346-1954-8303-2A33-D34A81382B10}"/>
              </a:ext>
            </a:extLst>
          </p:cNvPr>
          <p:cNvSpPr/>
          <p:nvPr/>
        </p:nvSpPr>
        <p:spPr>
          <a:xfrm>
            <a:off x="10789920" y="4754880"/>
            <a:ext cx="2743200" cy="2743200"/>
          </a:xfrm>
          <a:prstGeom prst="ellipse">
            <a:avLst/>
          </a:prstGeom>
          <a:solidFill>
            <a:srgbClr val="185FA5">
              <a:alpha val="10000"/>
            </a:srgbClr>
          </a:solidFill>
          <a:ln/>
        </p:spPr>
        <p:txBody>
          <a:bodyPr/>
          <a:lstStyle/>
          <a:p>
            <a:endParaRPr lang="fr-FR"/>
          </a:p>
        </p:txBody>
      </p:sp>
      <p:sp>
        <p:nvSpPr>
          <p:cNvPr id="4" name="Shape 2">
            <a:extLst>
              <a:ext uri="{FF2B5EF4-FFF2-40B4-BE49-F238E27FC236}">
                <a16:creationId xmlns:a16="http://schemas.microsoft.com/office/drawing/2014/main" id="{601BBD99-9128-A4A1-B859-69EE9AE322DE}"/>
              </a:ext>
            </a:extLst>
          </p:cNvPr>
          <p:cNvSpPr/>
          <p:nvPr/>
        </p:nvSpPr>
        <p:spPr>
          <a:xfrm>
            <a:off x="-1371600" y="5029200"/>
            <a:ext cx="2926080" cy="2926080"/>
          </a:xfrm>
          <a:prstGeom prst="ellipse">
            <a:avLst/>
          </a:prstGeom>
          <a:solidFill>
            <a:srgbClr val="0F6E56">
              <a:alpha val="8000"/>
            </a:srgbClr>
          </a:solidFill>
          <a:ln/>
        </p:spPr>
        <p:txBody>
          <a:bodyPr/>
          <a:lstStyle/>
          <a:p>
            <a:endParaRPr lang="fr-FR"/>
          </a:p>
        </p:txBody>
      </p:sp>
      <p:pic>
        <p:nvPicPr>
          <p:cNvPr id="5" name="Image 0" descr="/home/claude/pptxwork/logo_ismagi.png">
            <a:extLst>
              <a:ext uri="{FF2B5EF4-FFF2-40B4-BE49-F238E27FC236}">
                <a16:creationId xmlns:a16="http://schemas.microsoft.com/office/drawing/2014/main" id="{E33A4191-9B32-ABD0-4719-43C213D19149}"/>
              </a:ext>
            </a:extLst>
          </p:cNvPr>
          <p:cNvPicPr>
            <a:picLocks noChangeAspect="1"/>
          </p:cNvPicPr>
          <p:nvPr/>
        </p:nvPicPr>
        <p:blipFill>
          <a:blip r:embed="rId3"/>
          <a:stretch>
            <a:fillRect/>
          </a:stretch>
        </p:blipFill>
        <p:spPr>
          <a:xfrm>
            <a:off x="68794" y="0"/>
            <a:ext cx="1895397" cy="1005840"/>
          </a:xfrm>
          <a:prstGeom prst="rect">
            <a:avLst/>
          </a:prstGeom>
        </p:spPr>
      </p:pic>
      <p:pic>
        <p:nvPicPr>
          <p:cNvPr id="6" name="Image 1" descr="/home/claude/pptxwork/logo_chu.png">
            <a:extLst>
              <a:ext uri="{FF2B5EF4-FFF2-40B4-BE49-F238E27FC236}">
                <a16:creationId xmlns:a16="http://schemas.microsoft.com/office/drawing/2014/main" id="{7842FA9B-495C-BB93-415A-06CC00D64625}"/>
              </a:ext>
            </a:extLst>
          </p:cNvPr>
          <p:cNvPicPr>
            <a:picLocks noChangeAspect="1"/>
          </p:cNvPicPr>
          <p:nvPr/>
        </p:nvPicPr>
        <p:blipFill>
          <a:blip r:embed="rId4"/>
          <a:stretch>
            <a:fillRect/>
          </a:stretch>
        </p:blipFill>
        <p:spPr>
          <a:xfrm>
            <a:off x="10578707" y="0"/>
            <a:ext cx="1529442" cy="914400"/>
          </a:xfrm>
          <a:prstGeom prst="rect">
            <a:avLst/>
          </a:prstGeom>
        </p:spPr>
      </p:pic>
      <p:sp>
        <p:nvSpPr>
          <p:cNvPr id="8" name="Text 4">
            <a:extLst>
              <a:ext uri="{FF2B5EF4-FFF2-40B4-BE49-F238E27FC236}">
                <a16:creationId xmlns:a16="http://schemas.microsoft.com/office/drawing/2014/main" id="{8AFB0DAE-5B80-A589-BB82-D7C5B952A1E0}"/>
              </a:ext>
            </a:extLst>
          </p:cNvPr>
          <p:cNvSpPr/>
          <p:nvPr/>
        </p:nvSpPr>
        <p:spPr>
          <a:xfrm>
            <a:off x="2614770" y="1462708"/>
            <a:ext cx="9601200" cy="1737360"/>
          </a:xfrm>
          <a:prstGeom prst="rect">
            <a:avLst/>
          </a:prstGeom>
          <a:noFill/>
          <a:ln/>
        </p:spPr>
        <p:txBody>
          <a:bodyPr wrap="square" rtlCol="0" anchor="ctr"/>
          <a:lstStyle/>
          <a:p>
            <a:pPr marL="0" indent="0">
              <a:lnSpc>
                <a:spcPct val="105000"/>
              </a:lnSpc>
              <a:buNone/>
            </a:pPr>
            <a:r>
              <a:rPr lang="en-US" sz="4200" b="1" dirty="0">
                <a:solidFill>
                  <a:srgbClr val="0E2A45"/>
                </a:solidFill>
                <a:latin typeface="Cambria" pitchFamily="34" charset="0"/>
                <a:ea typeface="Cambria" pitchFamily="34" charset="-122"/>
                <a:cs typeface="Cambria" pitchFamily="34" charset="-120"/>
              </a:rPr>
              <a:t>Merci de votre attention</a:t>
            </a:r>
            <a:endParaRPr lang="en-US" sz="4200" dirty="0"/>
          </a:p>
        </p:txBody>
      </p:sp>
      <p:sp>
        <p:nvSpPr>
          <p:cNvPr id="9" name="Text 5">
            <a:extLst>
              <a:ext uri="{FF2B5EF4-FFF2-40B4-BE49-F238E27FC236}">
                <a16:creationId xmlns:a16="http://schemas.microsoft.com/office/drawing/2014/main" id="{DFB6F775-AF9D-0F5F-3F9E-8E75819F5F20}"/>
              </a:ext>
            </a:extLst>
          </p:cNvPr>
          <p:cNvSpPr/>
          <p:nvPr/>
        </p:nvSpPr>
        <p:spPr>
          <a:xfrm>
            <a:off x="822960" y="5154153"/>
            <a:ext cx="7315200" cy="457200"/>
          </a:xfrm>
          <a:prstGeom prst="rect">
            <a:avLst/>
          </a:prstGeom>
          <a:noFill/>
          <a:ln/>
        </p:spPr>
        <p:txBody>
          <a:bodyPr wrap="square" rtlCol="0" anchor="ctr"/>
          <a:lstStyle/>
          <a:p>
            <a:pPr marL="0" indent="0">
              <a:buNone/>
            </a:pPr>
            <a:r>
              <a:rPr lang="en-US" sz="1900" dirty="0">
                <a:solidFill>
                  <a:srgbClr val="3D5875"/>
                </a:solidFill>
                <a:latin typeface="Calibri" pitchFamily="34" charset="0"/>
                <a:ea typeface="Calibri" pitchFamily="34" charset="-122"/>
                <a:cs typeface="Calibri" pitchFamily="34" charset="-120"/>
              </a:rPr>
              <a:t>Réalisé par Nabil Aberouz </a:t>
            </a:r>
            <a:endParaRPr lang="en-US" sz="1900" dirty="0"/>
          </a:p>
        </p:txBody>
      </p:sp>
      <p:sp>
        <p:nvSpPr>
          <p:cNvPr id="11" name="Text 7">
            <a:extLst>
              <a:ext uri="{FF2B5EF4-FFF2-40B4-BE49-F238E27FC236}">
                <a16:creationId xmlns:a16="http://schemas.microsoft.com/office/drawing/2014/main" id="{7A4162D5-710E-DEB4-4471-46E42BCC7C1F}"/>
              </a:ext>
            </a:extLst>
          </p:cNvPr>
          <p:cNvSpPr/>
          <p:nvPr/>
        </p:nvSpPr>
        <p:spPr>
          <a:xfrm>
            <a:off x="822960" y="5989320"/>
            <a:ext cx="9144000" cy="365760"/>
          </a:xfrm>
          <a:prstGeom prst="rect">
            <a:avLst/>
          </a:prstGeom>
          <a:noFill/>
          <a:ln/>
        </p:spPr>
        <p:txBody>
          <a:bodyPr wrap="square" rtlCol="0" anchor="ctr"/>
          <a:lstStyle/>
          <a:p>
            <a:pPr marL="0" indent="0">
              <a:buNone/>
            </a:pPr>
            <a:r>
              <a:rPr lang="en-US" sz="1300" dirty="0">
                <a:solidFill>
                  <a:srgbClr val="5D7A96"/>
                </a:solidFill>
                <a:latin typeface="Calibri" pitchFamily="34" charset="0"/>
                <a:ea typeface="Calibri" pitchFamily="34" charset="-122"/>
                <a:cs typeface="Calibri" pitchFamily="34" charset="-120"/>
              </a:rPr>
              <a:t>SQL Server  •  SSIS  •  SSAS Multidimensional  •  Power BI</a:t>
            </a:r>
            <a:endParaRPr lang="en-US" sz="1300" dirty="0"/>
          </a:p>
        </p:txBody>
      </p:sp>
      <p:sp>
        <p:nvSpPr>
          <p:cNvPr id="12" name="Text 8">
            <a:extLst>
              <a:ext uri="{FF2B5EF4-FFF2-40B4-BE49-F238E27FC236}">
                <a16:creationId xmlns:a16="http://schemas.microsoft.com/office/drawing/2014/main" id="{F50A0322-38F3-7901-2B92-AA8BB8071C7D}"/>
              </a:ext>
            </a:extLst>
          </p:cNvPr>
          <p:cNvSpPr/>
          <p:nvPr/>
        </p:nvSpPr>
        <p:spPr>
          <a:xfrm>
            <a:off x="822960" y="6355080"/>
            <a:ext cx="9144000" cy="320040"/>
          </a:xfrm>
          <a:prstGeom prst="rect">
            <a:avLst/>
          </a:prstGeom>
          <a:noFill/>
          <a:ln/>
        </p:spPr>
        <p:txBody>
          <a:bodyPr wrap="square" rtlCol="0" anchor="ctr"/>
          <a:lstStyle/>
          <a:p>
            <a:pPr marL="0" indent="0">
              <a:buNone/>
            </a:pPr>
            <a:r>
              <a:rPr lang="en-US" sz="1100" dirty="0">
                <a:solidFill>
                  <a:srgbClr val="8AA0B4"/>
                </a:solidFill>
                <a:latin typeface="Calibri" pitchFamily="34" charset="0"/>
                <a:ea typeface="Calibri" pitchFamily="34" charset="-122"/>
                <a:cs typeface="Calibri" pitchFamily="34" charset="-120"/>
              </a:rPr>
              <a:t>Année universitaire 2025 / 2026</a:t>
            </a:r>
            <a:endParaRPr lang="en-US" sz="1100" dirty="0"/>
          </a:p>
        </p:txBody>
      </p:sp>
      <p:sp>
        <p:nvSpPr>
          <p:cNvPr id="14" name="Text 6">
            <a:extLst>
              <a:ext uri="{FF2B5EF4-FFF2-40B4-BE49-F238E27FC236}">
                <a16:creationId xmlns:a16="http://schemas.microsoft.com/office/drawing/2014/main" id="{B56873A6-BBFD-860D-8422-FCC812EAF5E1}"/>
              </a:ext>
            </a:extLst>
          </p:cNvPr>
          <p:cNvSpPr/>
          <p:nvPr/>
        </p:nvSpPr>
        <p:spPr>
          <a:xfrm>
            <a:off x="485608" y="2795356"/>
            <a:ext cx="10515600" cy="457200"/>
          </a:xfrm>
          <a:prstGeom prst="rect">
            <a:avLst/>
          </a:prstGeom>
          <a:noFill/>
          <a:ln/>
        </p:spPr>
        <p:txBody>
          <a:bodyPr wrap="square" rtlCol="0" anchor="ctr"/>
          <a:lstStyle/>
          <a:p>
            <a:pPr marL="0" indent="0" algn="ctr">
              <a:buNone/>
            </a:pPr>
            <a:r>
              <a:rPr lang="en-US" sz="2000" dirty="0">
                <a:solidFill>
                  <a:schemeClr val="accent6">
                    <a:lumMod val="75000"/>
                  </a:schemeClr>
                </a:solidFill>
                <a:latin typeface="Calibri" pitchFamily="34" charset="0"/>
                <a:ea typeface="Calibri" pitchFamily="34" charset="-122"/>
                <a:cs typeface="Calibri" pitchFamily="34" charset="-120"/>
              </a:rPr>
              <a:t>Plateforme Décisionnelle — Hospitalisation CHU Ibn Sina</a:t>
            </a:r>
            <a:endParaRPr lang="en-US" sz="2000" dirty="0">
              <a:solidFill>
                <a:schemeClr val="accent6">
                  <a:lumMod val="75000"/>
                </a:schemeClr>
              </a:solidFill>
            </a:endParaRPr>
          </a:p>
        </p:txBody>
      </p:sp>
    </p:spTree>
    <p:extLst>
      <p:ext uri="{BB962C8B-B14F-4D97-AF65-F5344CB8AC3E}">
        <p14:creationId xmlns:p14="http://schemas.microsoft.com/office/powerpoint/2010/main" val="8496253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TotalTime>
  <Words>1184</Words>
  <Application>Microsoft Office PowerPoint</Application>
  <PresentationFormat>Grand écran</PresentationFormat>
  <Paragraphs>184</Paragraphs>
  <Slides>19</Slides>
  <Notes>19</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19</vt:i4>
      </vt:variant>
    </vt:vector>
  </HeadingPairs>
  <TitlesOfParts>
    <vt:vector size="24" baseType="lpstr">
      <vt:lpstr>Arial</vt:lpstr>
      <vt:lpstr>Calibri</vt:lpstr>
      <vt:lpstr>Calibri </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Nabil Aberaouz</cp:lastModifiedBy>
  <cp:revision>32</cp:revision>
  <dcterms:created xsi:type="dcterms:W3CDTF">2026-07-15T01:22:03Z</dcterms:created>
  <dcterms:modified xsi:type="dcterms:W3CDTF">2026-08-07T13:14:55Z</dcterms:modified>
</cp:coreProperties>
</file>